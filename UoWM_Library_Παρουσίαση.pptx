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0294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Καλωσόρισμα. Είμαστε η ομάδα ENGAGE. Θα παρουσιάσουμε πώς πήραμε ένα μικρό open-source demo (book-library) και το μετατρέψαμε σε μια πλήρη, δίγλωσση πλατφόρμα βιβλιοθήκης για το ΠΔΜ. Διάρκεια ~10-12 λεπτά.</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Το book-library πληροί τα κριτήρια επιλογής έργου ΕΛ/ΛΑΚ: 110 stars, ενεργό, δέχεται PRs, έχει τεκμηρίωση. Είναι όμως ένα demo: μόνο mobile, δεδομένα στη μνήμη, χωρίς backend, αυθεντικοποίηση ή διγλωσσία. Αυτά τα όρια όρισαν τη συνεισφορά μας.</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Η συνεισφορά μας καλύπτει και τους τέσσερις αποδεκτούς τύπους της εκφώνησης ταυτόχρονα: νέο feature, βελτίωση, refactoring και test coverage. Στην ουσία μετατρέψαμε ένα demo σε πραγματικό σύστημα.</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Η αρχιτεκτονική είναι τριών επιπέδων. Επάνω βλέπετε το διάγραμμα συστατικών: δύο Flutter Web εφαρμογές (δημόσιο site + admin), το FastAPI backend με REST και WebSocket, και τα δεδομένα σε MongoDB + Firebase. Σαφής διαχωρισμός ευθυνών, ώστε κάθε επίπεδο να εξελίσσεται ανεξάρτητα.</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Η στοίβα: frontend σε Flutter Web (και για το δημόσιο site και για το admin), backend σε FastAPI με αυτόματο Swagger, MongoDB για τα δεδομένα, Firebase για αρχεία, JWT για ασφάλεια και WebSocket για το live chat.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Τα βασικά χαρακτηριστικά: πλήρης διγλωσσία (όχι μόνο στο UI αλλά στα ίδια τα δεδομένα), dark/light mode, live chat, ένα CMS με 17 οθόνες διαχείρισης, σελιδοποίηση και μεταφόρτωση media.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Το πιο σύνθετο κομμάτι. Ένας in-memory ConnectionManager κρατά τις ενεργές συνδέσεις χρηστών και admin. Κάθε μήνυμα αποθηκεύεται στη MongoDB και προωθείται στον αντίστοιχο παραλήπτη. Έτσι έχουμε αμφίδρομη επικοινωνία σε πραγματικό χρόνο.</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Δύο ρόλοι. Ο επισκέπτης καταναλώνει περιεχόμενο και επικοινωνεί. Ο διαχειριστής, μετά από σύνδεση με JWT, διαχειρίζεται όλο το περιεχόμενο μέσω του admin panel και απαντά στο live chat.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Στην ανάπτυξη: ο φυλλομετρητής φορτώνει τα δύο Flutter Web bundles. Ο εξυπηρετητής (Ubuntu VM) τρέχει Uvicorn/FastAPI και εξυπηρετεί REST και WebSocket. Τα δεδομένα σε MongoDB 7.0 και τα αρχεία στο Firebase.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Αυτό είναι το κλειδί. Σε κάθε διάσταση — πλατφόρμα, αρχιτεκτονική, αποθήκευση, ασφάλεια, διγλωσσία, real-time, διαχείριση — προσθέσαμε κάτι που απλώς δεν υπήρχε. Από επίδειξη του Provider, σε λειτουργική πλατφόρμα βιβλιοθήκης.</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Ο έλεγχος καλύπτει και τα δύο επίπεδα: widget tests στο Flutter, και δοκιμή των endpoints μέσω του αυτόματου Swagger UI — συμπεριλαμβανομένης της επιβεβαίωσης ότι τα προστατευμένα endpoints απορρίπτουν αιτήματα χωρίς έγκυρο token.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Οι μεγαλύτερες δυσκολίες ήταν η διγλωσσία σε επίπεδο δεδομένων και η διαχείριση πολλαπλών WebSocket συνεδριών. Το βασικό μάθημα: εφαρμόσαμε όλο τον κύκλο ζωής λογισμικού σε πραγματική βάση κώδικα, με συνεργατικές πρακτικές Git.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Ευχαριστούμε! Εδώ ξεκινάμε το live demo: εναλλαγή γλώσσας/θέματος, ανακοινώσεις, και το live chat μεταξύ site και admin panel. Στη συνέχεια ερωτήσεις.</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4.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13.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52"/>
        </a:solidFill>
        <a:effectLst/>
      </p:bgPr>
    </p:bg>
    <p:spTree>
      <p:nvGrpSpPr>
        <p:cNvPr id="1" name=""/>
        <p:cNvGrpSpPr/>
        <p:nvPr/>
      </p:nvGrpSpPr>
      <p:grpSpPr>
        <a:xfrm>
          <a:off x="0" y="0"/>
          <a:ext cx="0" cy="0"/>
          <a:chOff x="0" y="0"/>
          <a:chExt cx="0" cy="0"/>
        </a:xfrm>
      </p:grpSpPr>
      <p:sp>
        <p:nvSpPr>
          <p:cNvPr id="2" name="Shape 0"/>
          <p:cNvSpPr/>
          <p:nvPr/>
        </p:nvSpPr>
        <p:spPr>
          <a:xfrm>
            <a:off x="8869680" y="2926080"/>
            <a:ext cx="5852160" cy="5852160"/>
          </a:xfrm>
          <a:prstGeom prst="ellipse">
            <a:avLst/>
          </a:prstGeom>
          <a:solidFill>
            <a:srgbClr val="0D2B6B"/>
          </a:solidFill>
          <a:ln w="15240">
            <a:solidFill>
              <a:srgbClr val="1A3A8C">
                <a:alpha val="45000"/>
              </a:srgbClr>
            </a:solidFill>
            <a:prstDash val="solid"/>
          </a:ln>
        </p:spPr>
        <p:txBody>
          <a:bodyPr/>
          <a:lstStyle/>
          <a:p>
            <a:endParaRPr lang="el-GR"/>
          </a:p>
        </p:txBody>
      </p:sp>
      <p:sp>
        <p:nvSpPr>
          <p:cNvPr id="3" name="Shape 1"/>
          <p:cNvSpPr/>
          <p:nvPr/>
        </p:nvSpPr>
        <p:spPr>
          <a:xfrm>
            <a:off x="10058400" y="4114800"/>
            <a:ext cx="3840480" cy="3840480"/>
          </a:xfrm>
          <a:prstGeom prst="ellipse">
            <a:avLst/>
          </a:prstGeom>
          <a:solidFill>
            <a:srgbClr val="0A1F52"/>
          </a:solidFill>
          <a:ln w="15240">
            <a:solidFill>
              <a:srgbClr val="D4A017">
                <a:alpha val="65000"/>
              </a:srgbClr>
            </a:solidFill>
            <a:prstDash val="solid"/>
          </a:ln>
        </p:spPr>
        <p:txBody>
          <a:bodyPr/>
          <a:lstStyle/>
          <a:p>
            <a:endParaRPr lang="el-GR"/>
          </a:p>
        </p:txBody>
      </p:sp>
      <p:sp>
        <p:nvSpPr>
          <p:cNvPr id="4" name="Shape 2"/>
          <p:cNvSpPr/>
          <p:nvPr/>
        </p:nvSpPr>
        <p:spPr>
          <a:xfrm>
            <a:off x="914400" y="960120"/>
            <a:ext cx="914400" cy="914400"/>
          </a:xfrm>
          <a:prstGeom prst="ellipse">
            <a:avLst/>
          </a:prstGeom>
          <a:solidFill>
            <a:srgbClr val="D4A017"/>
          </a:solidFill>
          <a:ln/>
          <a:effectLst>
            <a:outerShdw blurRad="88900" dist="25400" dir="2700000" algn="bl" rotWithShape="0">
              <a:srgbClr val="0A1430">
                <a:alpha val="18000"/>
              </a:srgbClr>
            </a:outerShdw>
          </a:effectLst>
        </p:spPr>
        <p:txBody>
          <a:bodyPr/>
          <a:lstStyle/>
          <a:p>
            <a:endParaRPr lang="el-GR"/>
          </a:p>
        </p:txBody>
      </p:sp>
      <p:pic>
        <p:nvPicPr>
          <p:cNvPr id="5" name="Image 0" descr="preencoded.png"/>
          <p:cNvPicPr>
            <a:picLocks noChangeAspect="1"/>
          </p:cNvPicPr>
          <p:nvPr/>
        </p:nvPicPr>
        <p:blipFill>
          <a:blip r:embed="rId3"/>
          <a:stretch>
            <a:fillRect/>
          </a:stretch>
        </p:blipFill>
        <p:spPr>
          <a:xfrm>
            <a:off x="1161288" y="1207008"/>
            <a:ext cx="420624" cy="420624"/>
          </a:xfrm>
          <a:prstGeom prst="rect">
            <a:avLst/>
          </a:prstGeom>
        </p:spPr>
      </p:pic>
      <p:sp>
        <p:nvSpPr>
          <p:cNvPr id="6" name="Text 3"/>
          <p:cNvSpPr/>
          <p:nvPr/>
        </p:nvSpPr>
        <p:spPr>
          <a:xfrm>
            <a:off x="868680" y="2148840"/>
            <a:ext cx="100584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ΠΑΝΕΠΙΣΤΗΜΙΟ ΔΥΤΙΚΗΣ ΜΑΚΕΔΟΝΙΑΣ · ΤΗΜΜΥ</a:t>
            </a:r>
            <a:endParaRPr lang="en-US" sz="1300" dirty="0"/>
          </a:p>
        </p:txBody>
      </p:sp>
      <p:sp>
        <p:nvSpPr>
          <p:cNvPr id="7" name="Text 4"/>
          <p:cNvSpPr/>
          <p:nvPr/>
        </p:nvSpPr>
        <p:spPr>
          <a:xfrm>
            <a:off x="822960" y="2468880"/>
            <a:ext cx="10515600" cy="109728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UoWM Library</a:t>
            </a:r>
            <a:endParaRPr lang="en-US" sz="6000" dirty="0"/>
          </a:p>
        </p:txBody>
      </p:sp>
      <p:sp>
        <p:nvSpPr>
          <p:cNvPr id="8" name="Text 5"/>
          <p:cNvSpPr/>
          <p:nvPr/>
        </p:nvSpPr>
        <p:spPr>
          <a:xfrm>
            <a:off x="868680" y="3611880"/>
            <a:ext cx="10424160" cy="548640"/>
          </a:xfrm>
          <a:prstGeom prst="rect">
            <a:avLst/>
          </a:prstGeom>
          <a:noFill/>
          <a:ln/>
        </p:spPr>
        <p:txBody>
          <a:bodyPr wrap="square" lIns="0" tIns="0" rIns="0" bIns="0" rtlCol="0" anchor="ctr"/>
          <a:lstStyle/>
          <a:p>
            <a:pPr marL="0" indent="0">
              <a:buNone/>
            </a:pPr>
            <a:r>
              <a:rPr lang="en-US" sz="2000" dirty="0">
                <a:solidFill>
                  <a:srgbClr val="C9D4EC"/>
                </a:solidFill>
                <a:latin typeface="Calibri" pitchFamily="34" charset="0"/>
                <a:ea typeface="Calibri" pitchFamily="34" charset="-122"/>
                <a:cs typeface="Calibri" pitchFamily="34" charset="-120"/>
              </a:rPr>
              <a:t>Από ένα open-source demo </a:t>
            </a:r>
            <a:r>
              <a:rPr lang="en-US" sz="2000" b="1" dirty="0">
                <a:solidFill>
                  <a:srgbClr val="E8B84B"/>
                </a:solidFill>
                <a:latin typeface="Calibri" pitchFamily="34" charset="0"/>
                <a:ea typeface="Calibri" pitchFamily="34" charset="-122"/>
                <a:cs typeface="Calibri" pitchFamily="34" charset="-120"/>
              </a:rPr>
              <a:t>σε μια πλήρη δίγλωσση πλατφόρμα βιβλιοθήκης</a:t>
            </a:r>
            <a:endParaRPr lang="en-US" sz="2000" dirty="0"/>
          </a:p>
        </p:txBody>
      </p:sp>
      <p:sp>
        <p:nvSpPr>
          <p:cNvPr id="9" name="Shape 6"/>
          <p:cNvSpPr/>
          <p:nvPr/>
        </p:nvSpPr>
        <p:spPr>
          <a:xfrm>
            <a:off x="868680" y="4709160"/>
            <a:ext cx="3383280" cy="914400"/>
          </a:xfrm>
          <a:prstGeom prst="roundRect">
            <a:avLst>
              <a:gd name="adj" fmla="val 8000"/>
            </a:avLst>
          </a:prstGeom>
          <a:solidFill>
            <a:srgbClr val="0D2B6B"/>
          </a:solidFill>
          <a:ln w="12700">
            <a:solidFill>
              <a:srgbClr val="1A3A8C"/>
            </a:solidFill>
            <a:prstDash val="solid"/>
          </a:ln>
        </p:spPr>
        <p:txBody>
          <a:bodyPr/>
          <a:lstStyle/>
          <a:p>
            <a:endParaRPr lang="el-GR"/>
          </a:p>
        </p:txBody>
      </p:sp>
      <p:sp>
        <p:nvSpPr>
          <p:cNvPr id="10" name="Text 7"/>
          <p:cNvSpPr/>
          <p:nvPr/>
        </p:nvSpPr>
        <p:spPr>
          <a:xfrm>
            <a:off x="1097280" y="4754880"/>
            <a:ext cx="3017520" cy="822960"/>
          </a:xfrm>
          <a:prstGeom prst="rect">
            <a:avLst/>
          </a:prstGeom>
          <a:noFill/>
          <a:ln/>
        </p:spPr>
        <p:txBody>
          <a:bodyPr wrap="square" lIns="0" tIns="0" rIns="0" bIns="0" rtlCol="0" anchor="ctr"/>
          <a:lstStyle/>
          <a:p>
            <a:pPr marL="0" indent="0">
              <a:lnSpc>
                <a:spcPct val="105000"/>
              </a:lnSpc>
              <a:buNone/>
            </a:pPr>
            <a:r>
              <a:rPr lang="en-US" sz="1050" b="1" dirty="0">
                <a:solidFill>
                  <a:srgbClr val="E8B84B"/>
                </a:solidFill>
                <a:latin typeface="Calibri" pitchFamily="34" charset="0"/>
                <a:ea typeface="Calibri" pitchFamily="34" charset="-122"/>
                <a:cs typeface="Calibri" pitchFamily="34" charset="-120"/>
              </a:rPr>
              <a:t>ΜΑΘΗΜΑ
</a:t>
            </a:r>
            <a:r>
              <a:rPr lang="en-US" sz="1300" dirty="0">
                <a:solidFill>
                  <a:srgbClr val="FFFFFF"/>
                </a:solidFill>
                <a:latin typeface="Calibri" pitchFamily="34" charset="0"/>
                <a:ea typeface="Calibri" pitchFamily="34" charset="-122"/>
                <a:cs typeface="Calibri" pitchFamily="34" charset="-120"/>
              </a:rPr>
              <a:t>Τεχνολογία Λογισμικού</a:t>
            </a:r>
            <a:endParaRPr lang="en-US" sz="1050" dirty="0"/>
          </a:p>
        </p:txBody>
      </p:sp>
      <p:sp>
        <p:nvSpPr>
          <p:cNvPr id="11" name="Shape 8"/>
          <p:cNvSpPr/>
          <p:nvPr/>
        </p:nvSpPr>
        <p:spPr>
          <a:xfrm>
            <a:off x="4407408" y="4709160"/>
            <a:ext cx="3383280" cy="914400"/>
          </a:xfrm>
          <a:prstGeom prst="roundRect">
            <a:avLst>
              <a:gd name="adj" fmla="val 8000"/>
            </a:avLst>
          </a:prstGeom>
          <a:solidFill>
            <a:srgbClr val="0D2B6B"/>
          </a:solidFill>
          <a:ln w="12700">
            <a:solidFill>
              <a:srgbClr val="1A3A8C"/>
            </a:solidFill>
            <a:prstDash val="solid"/>
          </a:ln>
        </p:spPr>
        <p:txBody>
          <a:bodyPr/>
          <a:lstStyle/>
          <a:p>
            <a:endParaRPr lang="el-GR"/>
          </a:p>
        </p:txBody>
      </p:sp>
      <p:sp>
        <p:nvSpPr>
          <p:cNvPr id="12" name="Text 9"/>
          <p:cNvSpPr/>
          <p:nvPr/>
        </p:nvSpPr>
        <p:spPr>
          <a:xfrm>
            <a:off x="4636008" y="4754880"/>
            <a:ext cx="3017520" cy="822960"/>
          </a:xfrm>
          <a:prstGeom prst="rect">
            <a:avLst/>
          </a:prstGeom>
          <a:noFill/>
          <a:ln/>
        </p:spPr>
        <p:txBody>
          <a:bodyPr wrap="square" lIns="0" tIns="0" rIns="0" bIns="0" rtlCol="0" anchor="ctr"/>
          <a:lstStyle/>
          <a:p>
            <a:pPr marL="0" indent="0">
              <a:lnSpc>
                <a:spcPct val="105000"/>
              </a:lnSpc>
              <a:buNone/>
            </a:pPr>
            <a:r>
              <a:rPr lang="en-US" sz="1050" b="1" dirty="0">
                <a:solidFill>
                  <a:srgbClr val="E8B84B"/>
                </a:solidFill>
                <a:latin typeface="Calibri" pitchFamily="34" charset="0"/>
                <a:ea typeface="Calibri" pitchFamily="34" charset="-122"/>
                <a:cs typeface="Calibri" pitchFamily="34" charset="-120"/>
              </a:rPr>
              <a:t>ΠΑΡΑΔΟΤΕΟ
</a:t>
            </a:r>
            <a:r>
              <a:rPr lang="en-US" sz="1300" dirty="0">
                <a:solidFill>
                  <a:srgbClr val="FFFFFF"/>
                </a:solidFill>
                <a:latin typeface="Calibri" pitchFamily="34" charset="0"/>
                <a:ea typeface="Calibri" pitchFamily="34" charset="-122"/>
                <a:cs typeface="Calibri" pitchFamily="34" charset="-120"/>
              </a:rPr>
              <a:t>Ορόσημο 6 — Υλοποίηση</a:t>
            </a:r>
            <a:endParaRPr lang="en-US" sz="1050" dirty="0"/>
          </a:p>
        </p:txBody>
      </p:sp>
      <p:sp>
        <p:nvSpPr>
          <p:cNvPr id="13" name="Shape 10"/>
          <p:cNvSpPr/>
          <p:nvPr/>
        </p:nvSpPr>
        <p:spPr>
          <a:xfrm>
            <a:off x="7946136" y="4709160"/>
            <a:ext cx="3383280" cy="914400"/>
          </a:xfrm>
          <a:prstGeom prst="roundRect">
            <a:avLst>
              <a:gd name="adj" fmla="val 8000"/>
            </a:avLst>
          </a:prstGeom>
          <a:solidFill>
            <a:srgbClr val="0D2B6B"/>
          </a:solidFill>
          <a:ln w="12700">
            <a:solidFill>
              <a:srgbClr val="1A3A8C"/>
            </a:solidFill>
            <a:prstDash val="solid"/>
          </a:ln>
        </p:spPr>
        <p:txBody>
          <a:bodyPr/>
          <a:lstStyle/>
          <a:p>
            <a:endParaRPr lang="el-GR"/>
          </a:p>
        </p:txBody>
      </p:sp>
      <p:sp>
        <p:nvSpPr>
          <p:cNvPr id="14" name="Text 11"/>
          <p:cNvSpPr/>
          <p:nvPr/>
        </p:nvSpPr>
        <p:spPr>
          <a:xfrm>
            <a:off x="8174736" y="4754880"/>
            <a:ext cx="3017520" cy="822960"/>
          </a:xfrm>
          <a:prstGeom prst="rect">
            <a:avLst/>
          </a:prstGeom>
          <a:noFill/>
          <a:ln/>
        </p:spPr>
        <p:txBody>
          <a:bodyPr wrap="square" lIns="0" tIns="0" rIns="0" bIns="0" rtlCol="0" anchor="ctr"/>
          <a:lstStyle/>
          <a:p>
            <a:pPr>
              <a:lnSpc>
                <a:spcPct val="105000"/>
              </a:lnSpc>
            </a:pPr>
            <a:r>
              <a:rPr lang="en-US" sz="1050" b="1" dirty="0">
                <a:solidFill>
                  <a:srgbClr val="E8B84B"/>
                </a:solidFill>
                <a:latin typeface="Calibri" pitchFamily="34" charset="0"/>
                <a:ea typeface="Calibri" pitchFamily="34" charset="-122"/>
                <a:cs typeface="Calibri" pitchFamily="34" charset="-120"/>
              </a:rPr>
              <a:t>ΟΜΑΔΑ
</a:t>
            </a:r>
            <a:r>
              <a:rPr lang="en-US" sz="1300" dirty="0" err="1">
                <a:solidFill>
                  <a:srgbClr val="FFFFFF"/>
                </a:solidFill>
                <a:latin typeface="Calibri" pitchFamily="34" charset="0"/>
                <a:ea typeface="Calibri" pitchFamily="34" charset="-122"/>
                <a:cs typeface="Calibri" pitchFamily="34" charset="-120"/>
              </a:rPr>
              <a:t>Χρήστος</a:t>
            </a:r>
            <a:r>
              <a:rPr lang="en-US" sz="1300" dirty="0">
                <a:solidFill>
                  <a:srgbClr val="FFFFFF"/>
                </a:solidFill>
                <a:latin typeface="Calibri" pitchFamily="34" charset="0"/>
                <a:ea typeface="Calibri" pitchFamily="34" charset="-122"/>
                <a:cs typeface="Calibri" pitchFamily="34" charset="-120"/>
              </a:rPr>
              <a:t> </a:t>
            </a:r>
            <a:r>
              <a:rPr lang="en-US" sz="1300" dirty="0" err="1">
                <a:solidFill>
                  <a:srgbClr val="FFFFFF"/>
                </a:solidFill>
                <a:latin typeface="Calibri" pitchFamily="34" charset="0"/>
                <a:ea typeface="Calibri" pitchFamily="34" charset="-122"/>
                <a:cs typeface="Calibri" pitchFamily="34" charset="-120"/>
              </a:rPr>
              <a:t>Τύ</a:t>
            </a:r>
            <a:r>
              <a:rPr lang="en-US" sz="1300" dirty="0">
                <a:solidFill>
                  <a:srgbClr val="FFFFFF"/>
                </a:solidFill>
                <a:latin typeface="Calibri" pitchFamily="34" charset="0"/>
                <a:ea typeface="Calibri" pitchFamily="34" charset="-122"/>
                <a:cs typeface="Calibri" pitchFamily="34" charset="-120"/>
              </a:rPr>
              <a:t>που</a:t>
            </a:r>
            <a:r>
              <a:rPr lang="el-GR" sz="1300" dirty="0">
                <a:solidFill>
                  <a:srgbClr val="FFFFFF"/>
                </a:solidFill>
                <a:latin typeface="Calibri" pitchFamily="34" charset="0"/>
                <a:ea typeface="Calibri" pitchFamily="34" charset="-122"/>
                <a:cs typeface="Calibri" pitchFamily="34" charset="-120"/>
              </a:rPr>
              <a:t>, Νικόλαος Γκλούμπος, Ηλίας </a:t>
            </a:r>
            <a:r>
              <a:rPr lang="el-GR" sz="1300" dirty="0" err="1">
                <a:solidFill>
                  <a:srgbClr val="FFFFFF"/>
                </a:solidFill>
                <a:latin typeface="Calibri" pitchFamily="34" charset="0"/>
                <a:ea typeface="Calibri" pitchFamily="34" charset="-122"/>
                <a:cs typeface="Calibri" pitchFamily="34" charset="-120"/>
              </a:rPr>
              <a:t>Ψύχαλος</a:t>
            </a:r>
            <a:r>
              <a:rPr lang="el-GR" sz="1300" dirty="0">
                <a:solidFill>
                  <a:srgbClr val="FFFFFF"/>
                </a:solidFill>
                <a:latin typeface="Calibri" pitchFamily="34" charset="0"/>
                <a:ea typeface="Calibri" pitchFamily="34" charset="-122"/>
                <a:cs typeface="Calibri" pitchFamily="34" charset="-120"/>
              </a:rPr>
              <a:t> και ΖΓΟΥΡΟΣ </a:t>
            </a:r>
            <a:r>
              <a:rPr lang="el-GR" sz="1300">
                <a:solidFill>
                  <a:srgbClr val="FFFFFF"/>
                </a:solidFill>
                <a:latin typeface="Calibri" pitchFamily="34" charset="0"/>
                <a:ea typeface="Calibri" pitchFamily="34" charset="-122"/>
                <a:cs typeface="Calibri" pitchFamily="34" charset="-120"/>
              </a:rPr>
              <a:t>ΔΗΜΗΤΡΙΟΣ </a:t>
            </a:r>
            <a:endParaRPr lang="en-US" sz="1300" dirty="0">
              <a:solidFill>
                <a:srgbClr val="FFFFFF"/>
              </a:solidFill>
              <a:latin typeface="Calibri" pitchFamily="34" charset="0"/>
              <a:ea typeface="Calibri" pitchFamily="34" charset="-122"/>
              <a:cs typeface="Calibri" pitchFamily="34" charset="-120"/>
            </a:endParaRPr>
          </a:p>
        </p:txBody>
      </p:sp>
      <p:sp>
        <p:nvSpPr>
          <p:cNvPr id="15" name="Text 12"/>
          <p:cNvSpPr/>
          <p:nvPr/>
        </p:nvSpPr>
        <p:spPr>
          <a:xfrm>
            <a:off x="868680" y="5943600"/>
            <a:ext cx="10515600" cy="320040"/>
          </a:xfrm>
          <a:prstGeom prst="rect">
            <a:avLst/>
          </a:prstGeom>
          <a:noFill/>
          <a:ln/>
        </p:spPr>
        <p:txBody>
          <a:bodyPr wrap="square" rtlCol="0" anchor="ctr"/>
          <a:lstStyle/>
          <a:p>
            <a:pPr marL="0" indent="0">
              <a:buNone/>
            </a:pPr>
            <a:r>
              <a:rPr lang="en-US" sz="1200" dirty="0">
                <a:solidFill>
                  <a:srgbClr val="9FB0D6"/>
                </a:solidFill>
                <a:latin typeface="Calibri" pitchFamily="34" charset="0"/>
                <a:ea typeface="Calibri" pitchFamily="34" charset="-122"/>
                <a:cs typeface="Calibri" pitchFamily="34" charset="-120"/>
              </a:rPr>
              <a:t>github.com/ChrisTypou162734/Library-UoWM   ·   βάση: devrnt/book-library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777240" y="502920"/>
            <a:ext cx="9144000" cy="320040"/>
          </a:xfrm>
          <a:prstGeom prst="rect">
            <a:avLst/>
          </a:prstGeom>
          <a:noFill/>
          <a:ln/>
        </p:spPr>
        <p:txBody>
          <a:bodyPr wrap="square" rtlCol="0" anchor="ctr"/>
          <a:lstStyle/>
          <a:p>
            <a:pPr marL="0" indent="0">
              <a:buNone/>
            </a:pPr>
            <a:r>
              <a:rPr lang="en-US" sz="1300" b="1" kern="0" spc="300" dirty="0">
                <a:solidFill>
                  <a:srgbClr val="D4A017"/>
                </a:solidFill>
                <a:latin typeface="Calibri" pitchFamily="34" charset="0"/>
                <a:ea typeface="Calibri" pitchFamily="34" charset="-122"/>
                <a:cs typeface="Calibri" pitchFamily="34" charset="-120"/>
              </a:rPr>
              <a:t>ΑΦΕΤΗΡΙΑ</a:t>
            </a:r>
            <a:endParaRPr lang="en-US" sz="1300" dirty="0"/>
          </a:p>
        </p:txBody>
      </p:sp>
      <p:sp>
        <p:nvSpPr>
          <p:cNvPr id="3" name="Text 1"/>
          <p:cNvSpPr/>
          <p:nvPr/>
        </p:nvSpPr>
        <p:spPr>
          <a:xfrm>
            <a:off x="749808" y="768096"/>
            <a:ext cx="10607040" cy="868680"/>
          </a:xfrm>
          <a:prstGeom prst="rect">
            <a:avLst/>
          </a:prstGeom>
          <a:noFill/>
          <a:ln/>
        </p:spPr>
        <p:txBody>
          <a:bodyPr wrap="square" lIns="0" tIns="0" rIns="0" bIns="0" rtlCol="0" anchor="ctr"/>
          <a:lstStyle/>
          <a:p>
            <a:pPr marL="0" indent="0">
              <a:buNone/>
            </a:pPr>
            <a:r>
              <a:rPr lang="en-US" sz="3300" b="1" dirty="0">
                <a:solidFill>
                  <a:srgbClr val="0D2B6B"/>
                </a:solidFill>
                <a:latin typeface="Cambria" pitchFamily="34" charset="0"/>
                <a:ea typeface="Cambria" pitchFamily="34" charset="-122"/>
                <a:cs typeface="Cambria" pitchFamily="34" charset="-120"/>
              </a:rPr>
              <a:t>Το έργο βάσης: devrnt/book-library</a:t>
            </a:r>
            <a:endParaRPr lang="en-US" sz="3300" dirty="0"/>
          </a:p>
        </p:txBody>
      </p:sp>
      <p:sp>
        <p:nvSpPr>
          <p:cNvPr id="4" name="Text 2"/>
          <p:cNvSpPr/>
          <p:nvPr/>
        </p:nvSpPr>
        <p:spPr>
          <a:xfrm>
            <a:off x="777240" y="6437376"/>
            <a:ext cx="6400800" cy="274320"/>
          </a:xfrm>
          <a:prstGeom prst="rect">
            <a:avLst/>
          </a:prstGeom>
          <a:noFill/>
          <a:ln/>
        </p:spPr>
        <p:txBody>
          <a:bodyPr wrap="square" rtlCol="0" anchor="ctr"/>
          <a:lstStyle/>
          <a:p>
            <a:pPr marL="0" indent="0">
              <a:buNone/>
            </a:pPr>
            <a:r>
              <a:rPr lang="en-US" sz="950" dirty="0">
                <a:solidFill>
                  <a:srgbClr val="74809A"/>
                </a:solidFill>
                <a:latin typeface="Calibri" pitchFamily="34" charset="0"/>
                <a:ea typeface="Calibri" pitchFamily="34" charset="-122"/>
                <a:cs typeface="Calibri" pitchFamily="34" charset="-120"/>
              </a:rPr>
              <a:t>UoWM Library — Τεχνολογία Λογισμικού</a:t>
            </a:r>
            <a:endParaRPr lang="en-US" sz="950" dirty="0"/>
          </a:p>
        </p:txBody>
      </p:sp>
      <p:sp>
        <p:nvSpPr>
          <p:cNvPr id="5" name="Text 3"/>
          <p:cNvSpPr/>
          <p:nvPr/>
        </p:nvSpPr>
        <p:spPr>
          <a:xfrm>
            <a:off x="10972800" y="6437376"/>
            <a:ext cx="457200" cy="274320"/>
          </a:xfrm>
          <a:prstGeom prst="rect">
            <a:avLst/>
          </a:prstGeom>
          <a:noFill/>
          <a:ln/>
        </p:spPr>
        <p:txBody>
          <a:bodyPr wrap="square" rtlCol="0" anchor="ctr"/>
          <a:lstStyle/>
          <a:p>
            <a:pPr marL="0" indent="0" algn="r">
              <a:buNone/>
            </a:pPr>
            <a:r>
              <a:rPr lang="en-US" sz="950" dirty="0">
                <a:solidFill>
                  <a:srgbClr val="74809A"/>
                </a:solidFill>
                <a:latin typeface="Calibri" pitchFamily="34" charset="0"/>
                <a:ea typeface="Calibri" pitchFamily="34" charset="-122"/>
                <a:cs typeface="Calibri" pitchFamily="34" charset="-120"/>
              </a:rPr>
              <a:t>2</a:t>
            </a:r>
            <a:endParaRPr lang="en-US" sz="950" dirty="0"/>
          </a:p>
        </p:txBody>
      </p:sp>
      <p:sp>
        <p:nvSpPr>
          <p:cNvPr id="6" name="Shape 4"/>
          <p:cNvSpPr/>
          <p:nvPr/>
        </p:nvSpPr>
        <p:spPr>
          <a:xfrm>
            <a:off x="777240" y="1783080"/>
            <a:ext cx="5212080" cy="4160520"/>
          </a:xfrm>
          <a:prstGeom prst="roundRect">
            <a:avLst>
              <a:gd name="adj" fmla="val 1978"/>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7" name="Shape 5"/>
          <p:cNvSpPr/>
          <p:nvPr/>
        </p:nvSpPr>
        <p:spPr>
          <a:xfrm>
            <a:off x="1051560" y="2057400"/>
            <a:ext cx="777240" cy="777240"/>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8" name="Image 0" descr="preencoded.png"/>
          <p:cNvPicPr>
            <a:picLocks noChangeAspect="1"/>
          </p:cNvPicPr>
          <p:nvPr/>
        </p:nvPicPr>
        <p:blipFill>
          <a:blip r:embed="rId3"/>
          <a:stretch>
            <a:fillRect/>
          </a:stretch>
        </p:blipFill>
        <p:spPr>
          <a:xfrm>
            <a:off x="1261415" y="2267255"/>
            <a:ext cx="357530" cy="357530"/>
          </a:xfrm>
          <a:prstGeom prst="rect">
            <a:avLst/>
          </a:prstGeom>
        </p:spPr>
      </p:pic>
      <p:sp>
        <p:nvSpPr>
          <p:cNvPr id="9" name="Text 6"/>
          <p:cNvSpPr/>
          <p:nvPr/>
        </p:nvSpPr>
        <p:spPr>
          <a:xfrm>
            <a:off x="2011680" y="2103120"/>
            <a:ext cx="3749040" cy="365760"/>
          </a:xfrm>
          <a:prstGeom prst="rect">
            <a:avLst/>
          </a:prstGeom>
          <a:noFill/>
          <a:ln/>
        </p:spPr>
        <p:txBody>
          <a:bodyPr wrap="square" rtlCol="0" anchor="ctr"/>
          <a:lstStyle/>
          <a:p>
            <a:pPr marL="0" indent="0">
              <a:buNone/>
            </a:pPr>
            <a:r>
              <a:rPr lang="en-US" sz="1700" b="1" dirty="0">
                <a:solidFill>
                  <a:srgbClr val="0D2B6B"/>
                </a:solidFill>
                <a:latin typeface="Calibri" pitchFamily="34" charset="0"/>
                <a:ea typeface="Calibri" pitchFamily="34" charset="-122"/>
                <a:cs typeface="Calibri" pitchFamily="34" charset="-120"/>
              </a:rPr>
              <a:t>Τι είναι</a:t>
            </a:r>
            <a:endParaRPr lang="en-US" sz="1700" dirty="0"/>
          </a:p>
        </p:txBody>
      </p:sp>
      <p:sp>
        <p:nvSpPr>
          <p:cNvPr id="10" name="Text 7"/>
          <p:cNvSpPr/>
          <p:nvPr/>
        </p:nvSpPr>
        <p:spPr>
          <a:xfrm>
            <a:off x="1051560" y="2971800"/>
            <a:ext cx="4663440" cy="1005840"/>
          </a:xfrm>
          <a:prstGeom prst="rect">
            <a:avLst/>
          </a:prstGeom>
          <a:noFill/>
          <a:ln/>
        </p:spPr>
        <p:txBody>
          <a:bodyPr wrap="square" rtlCol="0" anchor="ctr"/>
          <a:lstStyle/>
          <a:p>
            <a:pPr marL="0" indent="0">
              <a:lnSpc>
                <a:spcPct val="108000"/>
              </a:lnSpc>
              <a:buNone/>
            </a:pPr>
            <a:r>
              <a:rPr lang="en-US" sz="1450" dirty="0">
                <a:solidFill>
                  <a:srgbClr val="35415C"/>
                </a:solidFill>
                <a:latin typeface="Calibri" pitchFamily="34" charset="0"/>
                <a:ea typeface="Calibri" pitchFamily="34" charset="-122"/>
                <a:cs typeface="Calibri" pitchFamily="34" charset="-120"/>
              </a:rPr>
              <a:t>Απλή εφαρμογή Flutter για βιβλιοθήκη βιβλίων (Android/iOS) — επίδειξη του προτύπου διαχείρισης κατάστασης Provider / ChangeNotifier.</a:t>
            </a:r>
            <a:endParaRPr lang="en-US" sz="1450" dirty="0"/>
          </a:p>
        </p:txBody>
      </p:sp>
      <p:sp>
        <p:nvSpPr>
          <p:cNvPr id="11" name="Text 8"/>
          <p:cNvSpPr/>
          <p:nvPr/>
        </p:nvSpPr>
        <p:spPr>
          <a:xfrm>
            <a:off x="1097280" y="4069080"/>
            <a:ext cx="1463040" cy="640080"/>
          </a:xfrm>
          <a:prstGeom prst="rect">
            <a:avLst/>
          </a:prstGeom>
          <a:noFill/>
          <a:ln/>
        </p:spPr>
        <p:txBody>
          <a:bodyPr wrap="square" lIns="0" tIns="0" rIns="0" bIns="0" rtlCol="0" anchor="ctr"/>
          <a:lstStyle/>
          <a:p>
            <a:pPr marL="0" indent="0" algn="ctr">
              <a:buNone/>
            </a:pPr>
            <a:r>
              <a:rPr lang="en-US" sz="3000" b="1" dirty="0">
                <a:solidFill>
                  <a:srgbClr val="0D2B6B"/>
                </a:solidFill>
                <a:latin typeface="Cambria" pitchFamily="34" charset="0"/>
                <a:ea typeface="Cambria" pitchFamily="34" charset="-122"/>
                <a:cs typeface="Cambria" pitchFamily="34" charset="-120"/>
              </a:rPr>
              <a:t>110★</a:t>
            </a:r>
            <a:endParaRPr lang="en-US" sz="3000" dirty="0"/>
          </a:p>
        </p:txBody>
      </p:sp>
      <p:sp>
        <p:nvSpPr>
          <p:cNvPr id="12" name="Text 9"/>
          <p:cNvSpPr/>
          <p:nvPr/>
        </p:nvSpPr>
        <p:spPr>
          <a:xfrm>
            <a:off x="960120" y="4736592"/>
            <a:ext cx="1737360" cy="640080"/>
          </a:xfrm>
          <a:prstGeom prst="rect">
            <a:avLst/>
          </a:prstGeom>
          <a:noFill/>
          <a:ln/>
        </p:spPr>
        <p:txBody>
          <a:bodyPr wrap="square" rtlCol="0" anchor="ctr"/>
          <a:lstStyle/>
          <a:p>
            <a:pPr marL="0" indent="0" algn="ctr">
              <a:buNone/>
            </a:pPr>
            <a:r>
              <a:rPr lang="en-US" sz="1150" dirty="0">
                <a:solidFill>
                  <a:srgbClr val="74809A"/>
                </a:solidFill>
                <a:latin typeface="Calibri" pitchFamily="34" charset="0"/>
                <a:ea typeface="Calibri" pitchFamily="34" charset="-122"/>
                <a:cs typeface="Calibri" pitchFamily="34" charset="-120"/>
              </a:rPr>
              <a:t>stars / ενεργό repo</a:t>
            </a:r>
            <a:endParaRPr lang="en-US" sz="1150" dirty="0"/>
          </a:p>
        </p:txBody>
      </p:sp>
      <p:sp>
        <p:nvSpPr>
          <p:cNvPr id="13" name="Text 10"/>
          <p:cNvSpPr/>
          <p:nvPr/>
        </p:nvSpPr>
        <p:spPr>
          <a:xfrm>
            <a:off x="2743200" y="4069080"/>
            <a:ext cx="1463040" cy="640080"/>
          </a:xfrm>
          <a:prstGeom prst="rect">
            <a:avLst/>
          </a:prstGeom>
          <a:noFill/>
          <a:ln/>
        </p:spPr>
        <p:txBody>
          <a:bodyPr wrap="square" lIns="0" tIns="0" rIns="0" bIns="0" rtlCol="0" anchor="ctr"/>
          <a:lstStyle/>
          <a:p>
            <a:pPr marL="0" indent="0" algn="ctr">
              <a:buNone/>
            </a:pPr>
            <a:r>
              <a:rPr lang="en-US" sz="3000" b="1" dirty="0">
                <a:solidFill>
                  <a:srgbClr val="0D2B6B"/>
                </a:solidFill>
                <a:latin typeface="Cambria" pitchFamily="34" charset="0"/>
                <a:ea typeface="Cambria" pitchFamily="34" charset="-122"/>
                <a:cs typeface="Cambria" pitchFamily="34" charset="-120"/>
              </a:rPr>
              <a:t>CRUD</a:t>
            </a:r>
            <a:endParaRPr lang="en-US" sz="3000" dirty="0"/>
          </a:p>
        </p:txBody>
      </p:sp>
      <p:sp>
        <p:nvSpPr>
          <p:cNvPr id="14" name="Text 11"/>
          <p:cNvSpPr/>
          <p:nvPr/>
        </p:nvSpPr>
        <p:spPr>
          <a:xfrm>
            <a:off x="2606040" y="4736592"/>
            <a:ext cx="1737360" cy="640080"/>
          </a:xfrm>
          <a:prstGeom prst="rect">
            <a:avLst/>
          </a:prstGeom>
          <a:noFill/>
          <a:ln/>
        </p:spPr>
        <p:txBody>
          <a:bodyPr wrap="square" rtlCol="0" anchor="ctr"/>
          <a:lstStyle/>
          <a:p>
            <a:pPr marL="0" indent="0" algn="ctr">
              <a:buNone/>
            </a:pPr>
            <a:r>
              <a:rPr lang="en-US" sz="1150" dirty="0">
                <a:solidFill>
                  <a:srgbClr val="74809A"/>
                </a:solidFill>
                <a:latin typeface="Calibri" pitchFamily="34" charset="0"/>
                <a:ea typeface="Calibri" pitchFamily="34" charset="-122"/>
                <a:cs typeface="Calibri" pitchFamily="34" charset="-120"/>
              </a:rPr>
              <a:t>τοπικές λειτουργίες</a:t>
            </a:r>
            <a:endParaRPr lang="en-US" sz="1150" dirty="0"/>
          </a:p>
        </p:txBody>
      </p:sp>
      <p:sp>
        <p:nvSpPr>
          <p:cNvPr id="15" name="Text 12"/>
          <p:cNvSpPr/>
          <p:nvPr/>
        </p:nvSpPr>
        <p:spPr>
          <a:xfrm>
            <a:off x="4434840" y="4069080"/>
            <a:ext cx="1463040" cy="640080"/>
          </a:xfrm>
          <a:prstGeom prst="rect">
            <a:avLst/>
          </a:prstGeom>
          <a:noFill/>
          <a:ln/>
        </p:spPr>
        <p:txBody>
          <a:bodyPr wrap="square" lIns="0" tIns="0" rIns="0" bIns="0" rtlCol="0" anchor="ctr"/>
          <a:lstStyle/>
          <a:p>
            <a:pPr marL="0" indent="0" algn="ctr">
              <a:buNone/>
            </a:pPr>
            <a:r>
              <a:rPr lang="en-US" sz="3000" b="1" dirty="0">
                <a:solidFill>
                  <a:srgbClr val="D4A017"/>
                </a:solidFill>
                <a:latin typeface="Cambria" pitchFamily="34" charset="0"/>
                <a:ea typeface="Cambria" pitchFamily="34" charset="-122"/>
                <a:cs typeface="Cambria" pitchFamily="34" charset="-120"/>
              </a:rPr>
              <a:t>0</a:t>
            </a:r>
            <a:endParaRPr lang="en-US" sz="3000" dirty="0"/>
          </a:p>
        </p:txBody>
      </p:sp>
      <p:sp>
        <p:nvSpPr>
          <p:cNvPr id="16" name="Text 13"/>
          <p:cNvSpPr/>
          <p:nvPr/>
        </p:nvSpPr>
        <p:spPr>
          <a:xfrm>
            <a:off x="4297680" y="4736592"/>
            <a:ext cx="1737360" cy="640080"/>
          </a:xfrm>
          <a:prstGeom prst="rect">
            <a:avLst/>
          </a:prstGeom>
          <a:noFill/>
          <a:ln/>
        </p:spPr>
        <p:txBody>
          <a:bodyPr wrap="square" rtlCol="0" anchor="ctr"/>
          <a:lstStyle/>
          <a:p>
            <a:pPr marL="0" indent="0" algn="ctr">
              <a:buNone/>
            </a:pPr>
            <a:r>
              <a:rPr lang="en-US" sz="1150" dirty="0">
                <a:solidFill>
                  <a:srgbClr val="74809A"/>
                </a:solidFill>
                <a:latin typeface="Calibri" pitchFamily="34" charset="0"/>
                <a:ea typeface="Calibri" pitchFamily="34" charset="-122"/>
                <a:cs typeface="Calibri" pitchFamily="34" charset="-120"/>
              </a:rPr>
              <a:t>backend / βάση</a:t>
            </a:r>
            <a:endParaRPr lang="en-US" sz="1150" dirty="0"/>
          </a:p>
        </p:txBody>
      </p:sp>
      <p:sp>
        <p:nvSpPr>
          <p:cNvPr id="17" name="Text 14"/>
          <p:cNvSpPr/>
          <p:nvPr/>
        </p:nvSpPr>
        <p:spPr>
          <a:xfrm>
            <a:off x="6400800" y="1828800"/>
            <a:ext cx="5029200" cy="365760"/>
          </a:xfrm>
          <a:prstGeom prst="rect">
            <a:avLst/>
          </a:prstGeom>
          <a:noFill/>
          <a:ln/>
        </p:spPr>
        <p:txBody>
          <a:bodyPr wrap="square" rtlCol="0" anchor="ctr"/>
          <a:lstStyle/>
          <a:p>
            <a:pPr marL="0" indent="0">
              <a:buNone/>
            </a:pPr>
            <a:r>
              <a:rPr lang="en-US" sz="1500" b="1" dirty="0">
                <a:solidFill>
                  <a:srgbClr val="14203A"/>
                </a:solidFill>
                <a:latin typeface="Calibri" pitchFamily="34" charset="0"/>
                <a:ea typeface="Calibri" pitchFamily="34" charset="-122"/>
                <a:cs typeface="Calibri" pitchFamily="34" charset="-120"/>
              </a:rPr>
              <a:t>Όμως, ως αφετηρία, έχει σαφή όρια:</a:t>
            </a:r>
            <a:endParaRPr lang="en-US" sz="1500" dirty="0"/>
          </a:p>
        </p:txBody>
      </p:sp>
      <p:sp>
        <p:nvSpPr>
          <p:cNvPr id="18" name="Shape 15"/>
          <p:cNvSpPr/>
          <p:nvPr/>
        </p:nvSpPr>
        <p:spPr>
          <a:xfrm>
            <a:off x="6400800" y="2331720"/>
            <a:ext cx="4983480" cy="731520"/>
          </a:xfrm>
          <a:prstGeom prst="roundRect">
            <a:avLst>
              <a:gd name="adj" fmla="val 1125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19" name="Shape 16"/>
          <p:cNvSpPr/>
          <p:nvPr/>
        </p:nvSpPr>
        <p:spPr>
          <a:xfrm>
            <a:off x="6565392" y="2478024"/>
            <a:ext cx="438912" cy="438912"/>
          </a:xfrm>
          <a:prstGeom prst="ellipse">
            <a:avLst/>
          </a:prstGeom>
          <a:solidFill>
            <a:srgbClr val="FBF1D9"/>
          </a:solidFill>
          <a:ln/>
          <a:effectLst>
            <a:outerShdw blurRad="88900" dist="25400" dir="2700000" algn="bl" rotWithShape="0">
              <a:srgbClr val="0A1430">
                <a:alpha val="18000"/>
              </a:srgbClr>
            </a:outerShdw>
          </a:effectLst>
        </p:spPr>
        <p:txBody>
          <a:bodyPr/>
          <a:lstStyle/>
          <a:p>
            <a:endParaRPr lang="el-GR"/>
          </a:p>
        </p:txBody>
      </p:sp>
      <p:pic>
        <p:nvPicPr>
          <p:cNvPr id="20" name="Image 1" descr="preencoded.png"/>
          <p:cNvPicPr>
            <a:picLocks noChangeAspect="1"/>
          </p:cNvPicPr>
          <p:nvPr/>
        </p:nvPicPr>
        <p:blipFill>
          <a:blip r:embed="rId4"/>
          <a:stretch>
            <a:fillRect/>
          </a:stretch>
        </p:blipFill>
        <p:spPr>
          <a:xfrm>
            <a:off x="6683898" y="2596530"/>
            <a:ext cx="201900" cy="201900"/>
          </a:xfrm>
          <a:prstGeom prst="rect">
            <a:avLst/>
          </a:prstGeom>
        </p:spPr>
      </p:pic>
      <p:sp>
        <p:nvSpPr>
          <p:cNvPr id="21" name="Text 17"/>
          <p:cNvSpPr/>
          <p:nvPr/>
        </p:nvSpPr>
        <p:spPr>
          <a:xfrm>
            <a:off x="7178040" y="2350008"/>
            <a:ext cx="4114800" cy="713232"/>
          </a:xfrm>
          <a:prstGeom prst="rect">
            <a:avLst/>
          </a:prstGeom>
          <a:noFill/>
          <a:ln/>
        </p:spPr>
        <p:txBody>
          <a:bodyPr wrap="square" rtlCol="0" anchor="ctr"/>
          <a:lstStyle/>
          <a:p>
            <a:pPr marL="0" indent="0">
              <a:buNone/>
            </a:pPr>
            <a:r>
              <a:rPr lang="en-US" sz="1350" b="1" dirty="0">
                <a:solidFill>
                  <a:srgbClr val="14203A"/>
                </a:solidFill>
                <a:latin typeface="Calibri" pitchFamily="34" charset="0"/>
                <a:ea typeface="Calibri" pitchFamily="34" charset="-122"/>
                <a:cs typeface="Calibri" pitchFamily="34" charset="-120"/>
              </a:rPr>
              <a:t>Μόνο mobile — καμία web παρουσία</a:t>
            </a:r>
            <a:endParaRPr lang="en-US" sz="1350" dirty="0"/>
          </a:p>
        </p:txBody>
      </p:sp>
      <p:sp>
        <p:nvSpPr>
          <p:cNvPr id="22" name="Shape 18"/>
          <p:cNvSpPr/>
          <p:nvPr/>
        </p:nvSpPr>
        <p:spPr>
          <a:xfrm>
            <a:off x="6400800" y="3209544"/>
            <a:ext cx="4983480" cy="731520"/>
          </a:xfrm>
          <a:prstGeom prst="roundRect">
            <a:avLst>
              <a:gd name="adj" fmla="val 1125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23" name="Shape 19"/>
          <p:cNvSpPr/>
          <p:nvPr/>
        </p:nvSpPr>
        <p:spPr>
          <a:xfrm>
            <a:off x="6565392" y="3355848"/>
            <a:ext cx="438912" cy="438912"/>
          </a:xfrm>
          <a:prstGeom prst="ellipse">
            <a:avLst/>
          </a:prstGeom>
          <a:solidFill>
            <a:srgbClr val="FBF1D9"/>
          </a:solidFill>
          <a:ln/>
          <a:effectLst>
            <a:outerShdw blurRad="88900" dist="25400" dir="2700000" algn="bl" rotWithShape="0">
              <a:srgbClr val="0A1430">
                <a:alpha val="18000"/>
              </a:srgbClr>
            </a:outerShdw>
          </a:effectLst>
        </p:spPr>
        <p:txBody>
          <a:bodyPr/>
          <a:lstStyle/>
          <a:p>
            <a:endParaRPr lang="el-GR"/>
          </a:p>
        </p:txBody>
      </p:sp>
      <p:pic>
        <p:nvPicPr>
          <p:cNvPr id="24" name="Image 2" descr="preencoded.png"/>
          <p:cNvPicPr>
            <a:picLocks noChangeAspect="1"/>
          </p:cNvPicPr>
          <p:nvPr/>
        </p:nvPicPr>
        <p:blipFill>
          <a:blip r:embed="rId5"/>
          <a:stretch>
            <a:fillRect/>
          </a:stretch>
        </p:blipFill>
        <p:spPr>
          <a:xfrm>
            <a:off x="6683898" y="3474354"/>
            <a:ext cx="201900" cy="201900"/>
          </a:xfrm>
          <a:prstGeom prst="rect">
            <a:avLst/>
          </a:prstGeom>
        </p:spPr>
      </p:pic>
      <p:sp>
        <p:nvSpPr>
          <p:cNvPr id="25" name="Text 20"/>
          <p:cNvSpPr/>
          <p:nvPr/>
        </p:nvSpPr>
        <p:spPr>
          <a:xfrm>
            <a:off x="7178040" y="3227832"/>
            <a:ext cx="4114800" cy="713232"/>
          </a:xfrm>
          <a:prstGeom prst="rect">
            <a:avLst/>
          </a:prstGeom>
          <a:noFill/>
          <a:ln/>
        </p:spPr>
        <p:txBody>
          <a:bodyPr wrap="square" rtlCol="0" anchor="ctr"/>
          <a:lstStyle/>
          <a:p>
            <a:pPr marL="0" indent="0">
              <a:buNone/>
            </a:pPr>
            <a:r>
              <a:rPr lang="en-US" sz="1350" b="1" dirty="0">
                <a:solidFill>
                  <a:srgbClr val="14203A"/>
                </a:solidFill>
                <a:latin typeface="Calibri" pitchFamily="34" charset="0"/>
                <a:ea typeface="Calibri" pitchFamily="34" charset="-122"/>
                <a:cs typeface="Calibri" pitchFamily="34" charset="-120"/>
              </a:rPr>
              <a:t>Δεδομένα in-memory — χωρίς επιμονή</a:t>
            </a:r>
            <a:endParaRPr lang="en-US" sz="1350" dirty="0"/>
          </a:p>
        </p:txBody>
      </p:sp>
      <p:sp>
        <p:nvSpPr>
          <p:cNvPr id="26" name="Shape 21"/>
          <p:cNvSpPr/>
          <p:nvPr/>
        </p:nvSpPr>
        <p:spPr>
          <a:xfrm>
            <a:off x="6400800" y="4087368"/>
            <a:ext cx="4983480" cy="731520"/>
          </a:xfrm>
          <a:prstGeom prst="roundRect">
            <a:avLst>
              <a:gd name="adj" fmla="val 1125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27" name="Shape 22"/>
          <p:cNvSpPr/>
          <p:nvPr/>
        </p:nvSpPr>
        <p:spPr>
          <a:xfrm>
            <a:off x="6565392" y="4233672"/>
            <a:ext cx="438912" cy="438912"/>
          </a:xfrm>
          <a:prstGeom prst="ellipse">
            <a:avLst/>
          </a:prstGeom>
          <a:solidFill>
            <a:srgbClr val="FBF1D9"/>
          </a:solidFill>
          <a:ln/>
          <a:effectLst>
            <a:outerShdw blurRad="88900" dist="25400" dir="2700000" algn="bl" rotWithShape="0">
              <a:srgbClr val="0A1430">
                <a:alpha val="18000"/>
              </a:srgbClr>
            </a:outerShdw>
          </a:effectLst>
        </p:spPr>
        <p:txBody>
          <a:bodyPr/>
          <a:lstStyle/>
          <a:p>
            <a:endParaRPr lang="el-GR"/>
          </a:p>
        </p:txBody>
      </p:sp>
      <p:pic>
        <p:nvPicPr>
          <p:cNvPr id="28" name="Image 3" descr="preencoded.png"/>
          <p:cNvPicPr>
            <a:picLocks noChangeAspect="1"/>
          </p:cNvPicPr>
          <p:nvPr/>
        </p:nvPicPr>
        <p:blipFill>
          <a:blip r:embed="rId6"/>
          <a:stretch>
            <a:fillRect/>
          </a:stretch>
        </p:blipFill>
        <p:spPr>
          <a:xfrm>
            <a:off x="6683898" y="4352178"/>
            <a:ext cx="201900" cy="201900"/>
          </a:xfrm>
          <a:prstGeom prst="rect">
            <a:avLst/>
          </a:prstGeom>
        </p:spPr>
      </p:pic>
      <p:sp>
        <p:nvSpPr>
          <p:cNvPr id="29" name="Text 23"/>
          <p:cNvSpPr/>
          <p:nvPr/>
        </p:nvSpPr>
        <p:spPr>
          <a:xfrm>
            <a:off x="7178040" y="4105656"/>
            <a:ext cx="4114800" cy="713232"/>
          </a:xfrm>
          <a:prstGeom prst="rect">
            <a:avLst/>
          </a:prstGeom>
          <a:noFill/>
          <a:ln/>
        </p:spPr>
        <p:txBody>
          <a:bodyPr wrap="square" rtlCol="0" anchor="ctr"/>
          <a:lstStyle/>
          <a:p>
            <a:pPr marL="0" indent="0">
              <a:buNone/>
            </a:pPr>
            <a:r>
              <a:rPr lang="en-US" sz="1350" b="1" dirty="0">
                <a:solidFill>
                  <a:srgbClr val="14203A"/>
                </a:solidFill>
                <a:latin typeface="Calibri" pitchFamily="34" charset="0"/>
                <a:ea typeface="Calibri" pitchFamily="34" charset="-122"/>
                <a:cs typeface="Calibri" pitchFamily="34" charset="-120"/>
              </a:rPr>
              <a:t>Χωρίς αυθεντικοποίηση ή διαχείριση</a:t>
            </a:r>
            <a:endParaRPr lang="en-US" sz="1350" dirty="0"/>
          </a:p>
        </p:txBody>
      </p:sp>
      <p:sp>
        <p:nvSpPr>
          <p:cNvPr id="30" name="Shape 24"/>
          <p:cNvSpPr/>
          <p:nvPr/>
        </p:nvSpPr>
        <p:spPr>
          <a:xfrm>
            <a:off x="6400800" y="4965192"/>
            <a:ext cx="4983480" cy="731520"/>
          </a:xfrm>
          <a:prstGeom prst="roundRect">
            <a:avLst>
              <a:gd name="adj" fmla="val 1125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31" name="Shape 25"/>
          <p:cNvSpPr/>
          <p:nvPr/>
        </p:nvSpPr>
        <p:spPr>
          <a:xfrm>
            <a:off x="6565392" y="5111496"/>
            <a:ext cx="438912" cy="438912"/>
          </a:xfrm>
          <a:prstGeom prst="ellipse">
            <a:avLst/>
          </a:prstGeom>
          <a:solidFill>
            <a:srgbClr val="FBF1D9"/>
          </a:solidFill>
          <a:ln/>
          <a:effectLst>
            <a:outerShdw blurRad="88900" dist="25400" dir="2700000" algn="bl" rotWithShape="0">
              <a:srgbClr val="0A1430">
                <a:alpha val="18000"/>
              </a:srgbClr>
            </a:outerShdw>
          </a:effectLst>
        </p:spPr>
        <p:txBody>
          <a:bodyPr/>
          <a:lstStyle/>
          <a:p>
            <a:endParaRPr lang="el-GR"/>
          </a:p>
        </p:txBody>
      </p:sp>
      <p:pic>
        <p:nvPicPr>
          <p:cNvPr id="32" name="Image 4" descr="preencoded.png"/>
          <p:cNvPicPr>
            <a:picLocks noChangeAspect="1"/>
          </p:cNvPicPr>
          <p:nvPr/>
        </p:nvPicPr>
        <p:blipFill>
          <a:blip r:embed="rId7"/>
          <a:stretch>
            <a:fillRect/>
          </a:stretch>
        </p:blipFill>
        <p:spPr>
          <a:xfrm>
            <a:off x="6683898" y="5230002"/>
            <a:ext cx="201900" cy="201900"/>
          </a:xfrm>
          <a:prstGeom prst="rect">
            <a:avLst/>
          </a:prstGeom>
        </p:spPr>
      </p:pic>
      <p:sp>
        <p:nvSpPr>
          <p:cNvPr id="33" name="Text 26"/>
          <p:cNvSpPr/>
          <p:nvPr/>
        </p:nvSpPr>
        <p:spPr>
          <a:xfrm>
            <a:off x="7178040" y="4983480"/>
            <a:ext cx="4114800" cy="713232"/>
          </a:xfrm>
          <a:prstGeom prst="rect">
            <a:avLst/>
          </a:prstGeom>
          <a:noFill/>
          <a:ln/>
        </p:spPr>
        <p:txBody>
          <a:bodyPr wrap="square" rtlCol="0" anchor="ctr"/>
          <a:lstStyle/>
          <a:p>
            <a:pPr marL="0" indent="0">
              <a:buNone/>
            </a:pPr>
            <a:r>
              <a:rPr lang="en-US" sz="1350" b="1" dirty="0">
                <a:solidFill>
                  <a:srgbClr val="14203A"/>
                </a:solidFill>
                <a:latin typeface="Calibri" pitchFamily="34" charset="0"/>
                <a:ea typeface="Calibri" pitchFamily="34" charset="-122"/>
                <a:cs typeface="Calibri" pitchFamily="34" charset="-120"/>
              </a:rPr>
              <a:t>Μονόγλωσσο, χωρίς real-time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777240" y="502920"/>
            <a:ext cx="9144000" cy="320040"/>
          </a:xfrm>
          <a:prstGeom prst="rect">
            <a:avLst/>
          </a:prstGeom>
          <a:noFill/>
          <a:ln/>
        </p:spPr>
        <p:txBody>
          <a:bodyPr wrap="square" rtlCol="0" anchor="ctr"/>
          <a:lstStyle/>
          <a:p>
            <a:pPr marL="0" indent="0">
              <a:buNone/>
            </a:pPr>
            <a:r>
              <a:rPr lang="en-US" sz="1300" b="1" kern="0" spc="300" dirty="0">
                <a:solidFill>
                  <a:srgbClr val="D4A017"/>
                </a:solidFill>
                <a:latin typeface="Calibri" pitchFamily="34" charset="0"/>
                <a:ea typeface="Calibri" pitchFamily="34" charset="-122"/>
                <a:cs typeface="Calibri" pitchFamily="34" charset="-120"/>
              </a:rPr>
              <a:t>Η ΣΥΝΕΙΣΦΟΡΑ ΜΑΣ</a:t>
            </a:r>
            <a:endParaRPr lang="en-US" sz="1300" dirty="0"/>
          </a:p>
        </p:txBody>
      </p:sp>
      <p:sp>
        <p:nvSpPr>
          <p:cNvPr id="3" name="Text 1"/>
          <p:cNvSpPr/>
          <p:nvPr/>
        </p:nvSpPr>
        <p:spPr>
          <a:xfrm>
            <a:off x="749808" y="768096"/>
            <a:ext cx="10607040" cy="868680"/>
          </a:xfrm>
          <a:prstGeom prst="rect">
            <a:avLst/>
          </a:prstGeom>
          <a:noFill/>
          <a:ln/>
        </p:spPr>
        <p:txBody>
          <a:bodyPr wrap="square" lIns="0" tIns="0" rIns="0" bIns="0" rtlCol="0" anchor="ctr"/>
          <a:lstStyle/>
          <a:p>
            <a:pPr marL="0" indent="0">
              <a:buNone/>
            </a:pPr>
            <a:r>
              <a:rPr lang="en-US" sz="3300" b="1" dirty="0">
                <a:solidFill>
                  <a:srgbClr val="0D2B6B"/>
                </a:solidFill>
                <a:latin typeface="Cambria" pitchFamily="34" charset="0"/>
                <a:ea typeface="Cambria" pitchFamily="34" charset="-122"/>
                <a:cs typeface="Cambria" pitchFamily="34" charset="-120"/>
              </a:rPr>
              <a:t>Τέσσερις τύποι συνεισφοράς — σε ένα έργο</a:t>
            </a:r>
            <a:endParaRPr lang="en-US" sz="3300" dirty="0"/>
          </a:p>
        </p:txBody>
      </p:sp>
      <p:sp>
        <p:nvSpPr>
          <p:cNvPr id="4" name="Text 2"/>
          <p:cNvSpPr/>
          <p:nvPr/>
        </p:nvSpPr>
        <p:spPr>
          <a:xfrm>
            <a:off x="777240" y="6437376"/>
            <a:ext cx="6400800" cy="274320"/>
          </a:xfrm>
          <a:prstGeom prst="rect">
            <a:avLst/>
          </a:prstGeom>
          <a:noFill/>
          <a:ln/>
        </p:spPr>
        <p:txBody>
          <a:bodyPr wrap="square" rtlCol="0" anchor="ctr"/>
          <a:lstStyle/>
          <a:p>
            <a:pPr marL="0" indent="0">
              <a:buNone/>
            </a:pPr>
            <a:r>
              <a:rPr lang="en-US" sz="950" dirty="0">
                <a:solidFill>
                  <a:srgbClr val="74809A"/>
                </a:solidFill>
                <a:latin typeface="Calibri" pitchFamily="34" charset="0"/>
                <a:ea typeface="Calibri" pitchFamily="34" charset="-122"/>
                <a:cs typeface="Calibri" pitchFamily="34" charset="-120"/>
              </a:rPr>
              <a:t>UoWM Library — Τεχνολογία Λογισμικού</a:t>
            </a:r>
            <a:endParaRPr lang="en-US" sz="950" dirty="0"/>
          </a:p>
        </p:txBody>
      </p:sp>
      <p:sp>
        <p:nvSpPr>
          <p:cNvPr id="5" name="Text 3"/>
          <p:cNvSpPr/>
          <p:nvPr/>
        </p:nvSpPr>
        <p:spPr>
          <a:xfrm>
            <a:off x="10972800" y="6437376"/>
            <a:ext cx="457200" cy="274320"/>
          </a:xfrm>
          <a:prstGeom prst="rect">
            <a:avLst/>
          </a:prstGeom>
          <a:noFill/>
          <a:ln/>
        </p:spPr>
        <p:txBody>
          <a:bodyPr wrap="square" rtlCol="0" anchor="ctr"/>
          <a:lstStyle/>
          <a:p>
            <a:pPr marL="0" indent="0" algn="r">
              <a:buNone/>
            </a:pPr>
            <a:r>
              <a:rPr lang="en-US" sz="950" dirty="0">
                <a:solidFill>
                  <a:srgbClr val="74809A"/>
                </a:solidFill>
                <a:latin typeface="Calibri" pitchFamily="34" charset="0"/>
                <a:ea typeface="Calibri" pitchFamily="34" charset="-122"/>
                <a:cs typeface="Calibri" pitchFamily="34" charset="-120"/>
              </a:rPr>
              <a:t>3</a:t>
            </a:r>
            <a:endParaRPr lang="en-US" sz="950" dirty="0"/>
          </a:p>
        </p:txBody>
      </p:sp>
      <p:sp>
        <p:nvSpPr>
          <p:cNvPr id="6" name="Shape 4"/>
          <p:cNvSpPr/>
          <p:nvPr/>
        </p:nvSpPr>
        <p:spPr>
          <a:xfrm>
            <a:off x="777240" y="1874520"/>
            <a:ext cx="5257800" cy="1828800"/>
          </a:xfrm>
          <a:prstGeom prst="roundRect">
            <a:avLst>
              <a:gd name="adj" fmla="val 450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7" name="Shape 5"/>
          <p:cNvSpPr/>
          <p:nvPr/>
        </p:nvSpPr>
        <p:spPr>
          <a:xfrm>
            <a:off x="1097280" y="2167128"/>
            <a:ext cx="777240" cy="777240"/>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8" name="Image 0" descr="preencoded.png"/>
          <p:cNvPicPr>
            <a:picLocks noChangeAspect="1"/>
          </p:cNvPicPr>
          <p:nvPr/>
        </p:nvPicPr>
        <p:blipFill>
          <a:blip r:embed="rId3"/>
          <a:stretch>
            <a:fillRect/>
          </a:stretch>
        </p:blipFill>
        <p:spPr>
          <a:xfrm>
            <a:off x="1307135" y="2376983"/>
            <a:ext cx="357530" cy="357530"/>
          </a:xfrm>
          <a:prstGeom prst="rect">
            <a:avLst/>
          </a:prstGeom>
        </p:spPr>
      </p:pic>
      <p:sp>
        <p:nvSpPr>
          <p:cNvPr id="9" name="Text 6"/>
          <p:cNvSpPr/>
          <p:nvPr/>
        </p:nvSpPr>
        <p:spPr>
          <a:xfrm>
            <a:off x="2057400" y="2167128"/>
            <a:ext cx="3749040" cy="457200"/>
          </a:xfrm>
          <a:prstGeom prst="rect">
            <a:avLst/>
          </a:prstGeom>
          <a:noFill/>
          <a:ln/>
        </p:spPr>
        <p:txBody>
          <a:bodyPr wrap="square" rtlCol="0" anchor="ctr"/>
          <a:lstStyle/>
          <a:p>
            <a:pPr marL="0" indent="0">
              <a:buNone/>
            </a:pPr>
            <a:r>
              <a:rPr lang="en-US" sz="1800" b="1" dirty="0">
                <a:solidFill>
                  <a:srgbClr val="0D2B6B"/>
                </a:solidFill>
                <a:latin typeface="Calibri" pitchFamily="34" charset="0"/>
                <a:ea typeface="Calibri" pitchFamily="34" charset="-122"/>
                <a:cs typeface="Calibri" pitchFamily="34" charset="-120"/>
              </a:rPr>
              <a:t>Νέο feature</a:t>
            </a:r>
            <a:endParaRPr lang="en-US" sz="1800" dirty="0"/>
          </a:p>
        </p:txBody>
      </p:sp>
      <p:sp>
        <p:nvSpPr>
          <p:cNvPr id="10" name="Text 7"/>
          <p:cNvSpPr/>
          <p:nvPr/>
        </p:nvSpPr>
        <p:spPr>
          <a:xfrm>
            <a:off x="2057400" y="2660904"/>
            <a:ext cx="3840480" cy="914400"/>
          </a:xfrm>
          <a:prstGeom prst="rect">
            <a:avLst/>
          </a:prstGeom>
          <a:noFill/>
          <a:ln/>
        </p:spPr>
        <p:txBody>
          <a:bodyPr wrap="square" rtlCol="0" anchor="ctr"/>
          <a:lstStyle/>
          <a:p>
            <a:pPr marL="0" indent="0">
              <a:lnSpc>
                <a:spcPct val="105000"/>
              </a:lnSpc>
              <a:buNone/>
            </a:pPr>
            <a:r>
              <a:rPr lang="en-US" sz="1350" dirty="0">
                <a:solidFill>
                  <a:srgbClr val="35415C"/>
                </a:solidFill>
                <a:latin typeface="Calibri" pitchFamily="34" charset="0"/>
                <a:ea typeface="Calibri" pitchFamily="34" charset="-122"/>
                <a:cs typeface="Calibri" pitchFamily="34" charset="-120"/>
              </a:rPr>
              <a:t>Δίγλωσσο CMS, live chat WebSocket, JWT auth, admin panel 17 οθονών, media upload</a:t>
            </a:r>
            <a:endParaRPr lang="en-US" sz="1350" dirty="0"/>
          </a:p>
        </p:txBody>
      </p:sp>
      <p:sp>
        <p:nvSpPr>
          <p:cNvPr id="11" name="Shape 8"/>
          <p:cNvSpPr/>
          <p:nvPr/>
        </p:nvSpPr>
        <p:spPr>
          <a:xfrm>
            <a:off x="6309360" y="1874520"/>
            <a:ext cx="5257800" cy="1828800"/>
          </a:xfrm>
          <a:prstGeom prst="roundRect">
            <a:avLst>
              <a:gd name="adj" fmla="val 450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12" name="Shape 9"/>
          <p:cNvSpPr/>
          <p:nvPr/>
        </p:nvSpPr>
        <p:spPr>
          <a:xfrm>
            <a:off x="6629400" y="2167128"/>
            <a:ext cx="777240" cy="777240"/>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13" name="Image 1" descr="preencoded.png"/>
          <p:cNvPicPr>
            <a:picLocks noChangeAspect="1"/>
          </p:cNvPicPr>
          <p:nvPr/>
        </p:nvPicPr>
        <p:blipFill>
          <a:blip r:embed="rId4"/>
          <a:stretch>
            <a:fillRect/>
          </a:stretch>
        </p:blipFill>
        <p:spPr>
          <a:xfrm>
            <a:off x="6839255" y="2376983"/>
            <a:ext cx="357530" cy="357530"/>
          </a:xfrm>
          <a:prstGeom prst="rect">
            <a:avLst/>
          </a:prstGeom>
        </p:spPr>
      </p:pic>
      <p:sp>
        <p:nvSpPr>
          <p:cNvPr id="14" name="Text 10"/>
          <p:cNvSpPr/>
          <p:nvPr/>
        </p:nvSpPr>
        <p:spPr>
          <a:xfrm>
            <a:off x="7589520" y="2167128"/>
            <a:ext cx="3749040" cy="457200"/>
          </a:xfrm>
          <a:prstGeom prst="rect">
            <a:avLst/>
          </a:prstGeom>
          <a:noFill/>
          <a:ln/>
        </p:spPr>
        <p:txBody>
          <a:bodyPr wrap="square" rtlCol="0" anchor="ctr"/>
          <a:lstStyle/>
          <a:p>
            <a:pPr marL="0" indent="0">
              <a:buNone/>
            </a:pPr>
            <a:r>
              <a:rPr lang="en-US" sz="1800" b="1" dirty="0">
                <a:solidFill>
                  <a:srgbClr val="0D2B6B"/>
                </a:solidFill>
                <a:latin typeface="Calibri" pitchFamily="34" charset="0"/>
                <a:ea typeface="Calibri" pitchFamily="34" charset="-122"/>
                <a:cs typeface="Calibri" pitchFamily="34" charset="-120"/>
              </a:rPr>
              <a:t>Βελτίωση λειτουργίας</a:t>
            </a:r>
            <a:endParaRPr lang="en-US" sz="1800" dirty="0"/>
          </a:p>
        </p:txBody>
      </p:sp>
      <p:sp>
        <p:nvSpPr>
          <p:cNvPr id="15" name="Text 11"/>
          <p:cNvSpPr/>
          <p:nvPr/>
        </p:nvSpPr>
        <p:spPr>
          <a:xfrm>
            <a:off x="7589520" y="2660904"/>
            <a:ext cx="3840480" cy="914400"/>
          </a:xfrm>
          <a:prstGeom prst="rect">
            <a:avLst/>
          </a:prstGeom>
          <a:noFill/>
          <a:ln/>
        </p:spPr>
        <p:txBody>
          <a:bodyPr wrap="square" rtlCol="0" anchor="ctr"/>
          <a:lstStyle/>
          <a:p>
            <a:pPr marL="0" indent="0">
              <a:lnSpc>
                <a:spcPct val="105000"/>
              </a:lnSpc>
              <a:buNone/>
            </a:pPr>
            <a:r>
              <a:rPr lang="en-US" sz="1350" dirty="0">
                <a:solidFill>
                  <a:srgbClr val="35415C"/>
                </a:solidFill>
                <a:latin typeface="Calibri" pitchFamily="34" charset="0"/>
                <a:ea typeface="Calibri" pitchFamily="34" charset="-122"/>
                <a:cs typeface="Calibri" pitchFamily="34" charset="-120"/>
              </a:rPr>
              <a:t>Από in-memory αποθήκευση σε πραγματική επιμονή με MongoDB και REST API</a:t>
            </a:r>
            <a:endParaRPr lang="en-US" sz="1350" dirty="0"/>
          </a:p>
        </p:txBody>
      </p:sp>
      <p:sp>
        <p:nvSpPr>
          <p:cNvPr id="16" name="Shape 12"/>
          <p:cNvSpPr/>
          <p:nvPr/>
        </p:nvSpPr>
        <p:spPr>
          <a:xfrm>
            <a:off x="777240" y="3931920"/>
            <a:ext cx="5257800" cy="1828800"/>
          </a:xfrm>
          <a:prstGeom prst="roundRect">
            <a:avLst>
              <a:gd name="adj" fmla="val 450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17" name="Shape 13"/>
          <p:cNvSpPr/>
          <p:nvPr/>
        </p:nvSpPr>
        <p:spPr>
          <a:xfrm>
            <a:off x="1097280" y="4224528"/>
            <a:ext cx="777240" cy="777240"/>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18" name="Image 2" descr="preencoded.png"/>
          <p:cNvPicPr>
            <a:picLocks noChangeAspect="1"/>
          </p:cNvPicPr>
          <p:nvPr/>
        </p:nvPicPr>
        <p:blipFill>
          <a:blip r:embed="rId5"/>
          <a:stretch>
            <a:fillRect/>
          </a:stretch>
        </p:blipFill>
        <p:spPr>
          <a:xfrm>
            <a:off x="1307135" y="4434383"/>
            <a:ext cx="357530" cy="357530"/>
          </a:xfrm>
          <a:prstGeom prst="rect">
            <a:avLst/>
          </a:prstGeom>
        </p:spPr>
      </p:pic>
      <p:sp>
        <p:nvSpPr>
          <p:cNvPr id="19" name="Text 14"/>
          <p:cNvSpPr/>
          <p:nvPr/>
        </p:nvSpPr>
        <p:spPr>
          <a:xfrm>
            <a:off x="2057400" y="4224528"/>
            <a:ext cx="3749040" cy="457200"/>
          </a:xfrm>
          <a:prstGeom prst="rect">
            <a:avLst/>
          </a:prstGeom>
          <a:noFill/>
          <a:ln/>
        </p:spPr>
        <p:txBody>
          <a:bodyPr wrap="square" rtlCol="0" anchor="ctr"/>
          <a:lstStyle/>
          <a:p>
            <a:pPr marL="0" indent="0">
              <a:buNone/>
            </a:pPr>
            <a:r>
              <a:rPr lang="en-US" sz="1800" b="1" dirty="0">
                <a:solidFill>
                  <a:srgbClr val="0D2B6B"/>
                </a:solidFill>
                <a:latin typeface="Calibri" pitchFamily="34" charset="0"/>
                <a:ea typeface="Calibri" pitchFamily="34" charset="-122"/>
                <a:cs typeface="Calibri" pitchFamily="34" charset="-120"/>
              </a:rPr>
              <a:t>Refactoring</a:t>
            </a:r>
            <a:endParaRPr lang="en-US" sz="1800" dirty="0"/>
          </a:p>
        </p:txBody>
      </p:sp>
      <p:sp>
        <p:nvSpPr>
          <p:cNvPr id="20" name="Text 15"/>
          <p:cNvSpPr/>
          <p:nvPr/>
        </p:nvSpPr>
        <p:spPr>
          <a:xfrm>
            <a:off x="2057400" y="4718304"/>
            <a:ext cx="3840480" cy="914400"/>
          </a:xfrm>
          <a:prstGeom prst="rect">
            <a:avLst/>
          </a:prstGeom>
          <a:noFill/>
          <a:ln/>
        </p:spPr>
        <p:txBody>
          <a:bodyPr wrap="square" rtlCol="0" anchor="ctr"/>
          <a:lstStyle/>
          <a:p>
            <a:pPr marL="0" indent="0">
              <a:lnSpc>
                <a:spcPct val="105000"/>
              </a:lnSpc>
              <a:buNone/>
            </a:pPr>
            <a:r>
              <a:rPr lang="en-US" sz="1350" dirty="0">
                <a:solidFill>
                  <a:srgbClr val="35415C"/>
                </a:solidFill>
                <a:latin typeface="Calibri" pitchFamily="34" charset="0"/>
                <a:ea typeface="Calibri" pitchFamily="34" charset="-122"/>
                <a:cs typeface="Calibri" pitchFamily="34" charset="-120"/>
              </a:rPr>
              <a:t>Από εφαρμογή ενός επιπέδου σε καθαρή τριεπίπεδη αρχιτεκτονική</a:t>
            </a:r>
            <a:endParaRPr lang="en-US" sz="1350" dirty="0"/>
          </a:p>
        </p:txBody>
      </p:sp>
      <p:sp>
        <p:nvSpPr>
          <p:cNvPr id="21" name="Shape 16"/>
          <p:cNvSpPr/>
          <p:nvPr/>
        </p:nvSpPr>
        <p:spPr>
          <a:xfrm>
            <a:off x="6309360" y="3931920"/>
            <a:ext cx="5257800" cy="1828800"/>
          </a:xfrm>
          <a:prstGeom prst="roundRect">
            <a:avLst>
              <a:gd name="adj" fmla="val 450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22" name="Shape 17"/>
          <p:cNvSpPr/>
          <p:nvPr/>
        </p:nvSpPr>
        <p:spPr>
          <a:xfrm>
            <a:off x="6629400" y="4224528"/>
            <a:ext cx="777240" cy="777240"/>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23" name="Image 3" descr="preencoded.png"/>
          <p:cNvPicPr>
            <a:picLocks noChangeAspect="1"/>
          </p:cNvPicPr>
          <p:nvPr/>
        </p:nvPicPr>
        <p:blipFill>
          <a:blip r:embed="rId6"/>
          <a:stretch>
            <a:fillRect/>
          </a:stretch>
        </p:blipFill>
        <p:spPr>
          <a:xfrm>
            <a:off x="6839255" y="4434383"/>
            <a:ext cx="357530" cy="357530"/>
          </a:xfrm>
          <a:prstGeom prst="rect">
            <a:avLst/>
          </a:prstGeom>
        </p:spPr>
      </p:pic>
      <p:sp>
        <p:nvSpPr>
          <p:cNvPr id="24" name="Text 18"/>
          <p:cNvSpPr/>
          <p:nvPr/>
        </p:nvSpPr>
        <p:spPr>
          <a:xfrm>
            <a:off x="7589520" y="4224528"/>
            <a:ext cx="3749040" cy="457200"/>
          </a:xfrm>
          <a:prstGeom prst="rect">
            <a:avLst/>
          </a:prstGeom>
          <a:noFill/>
          <a:ln/>
        </p:spPr>
        <p:txBody>
          <a:bodyPr wrap="square" rtlCol="0" anchor="ctr"/>
          <a:lstStyle/>
          <a:p>
            <a:pPr marL="0" indent="0">
              <a:buNone/>
            </a:pPr>
            <a:r>
              <a:rPr lang="en-US" sz="1800" b="1" dirty="0">
                <a:solidFill>
                  <a:srgbClr val="0D2B6B"/>
                </a:solidFill>
                <a:latin typeface="Calibri" pitchFamily="34" charset="0"/>
                <a:ea typeface="Calibri" pitchFamily="34" charset="-122"/>
                <a:cs typeface="Calibri" pitchFamily="34" charset="-120"/>
              </a:rPr>
              <a:t>Test coverage</a:t>
            </a:r>
            <a:endParaRPr lang="en-US" sz="1800" dirty="0"/>
          </a:p>
        </p:txBody>
      </p:sp>
      <p:sp>
        <p:nvSpPr>
          <p:cNvPr id="25" name="Text 19"/>
          <p:cNvSpPr/>
          <p:nvPr/>
        </p:nvSpPr>
        <p:spPr>
          <a:xfrm>
            <a:off x="7589520" y="4718304"/>
            <a:ext cx="3840480" cy="914400"/>
          </a:xfrm>
          <a:prstGeom prst="rect">
            <a:avLst/>
          </a:prstGeom>
          <a:noFill/>
          <a:ln/>
        </p:spPr>
        <p:txBody>
          <a:bodyPr wrap="square" rtlCol="0" anchor="ctr"/>
          <a:lstStyle/>
          <a:p>
            <a:pPr marL="0" indent="0">
              <a:lnSpc>
                <a:spcPct val="105000"/>
              </a:lnSpc>
              <a:buNone/>
            </a:pPr>
            <a:r>
              <a:rPr lang="en-US" sz="1350" dirty="0">
                <a:solidFill>
                  <a:srgbClr val="35415C"/>
                </a:solidFill>
                <a:latin typeface="Calibri" pitchFamily="34" charset="0"/>
                <a:ea typeface="Calibri" pitchFamily="34" charset="-122"/>
                <a:cs typeface="Calibri" pitchFamily="34" charset="-120"/>
              </a:rPr>
              <a:t>Widget tests στο frontend και επαλήθευση των endpoints του backend</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777240" y="502920"/>
            <a:ext cx="9144000" cy="320040"/>
          </a:xfrm>
          <a:prstGeom prst="rect">
            <a:avLst/>
          </a:prstGeom>
          <a:noFill/>
          <a:ln/>
        </p:spPr>
        <p:txBody>
          <a:bodyPr wrap="square" rtlCol="0" anchor="ctr"/>
          <a:lstStyle/>
          <a:p>
            <a:pPr marL="0" indent="0">
              <a:buNone/>
            </a:pPr>
            <a:r>
              <a:rPr lang="en-US" sz="1300" b="1" kern="0" spc="300" dirty="0">
                <a:solidFill>
                  <a:srgbClr val="D4A017"/>
                </a:solidFill>
                <a:latin typeface="Calibri" pitchFamily="34" charset="0"/>
                <a:ea typeface="Calibri" pitchFamily="34" charset="-122"/>
                <a:cs typeface="Calibri" pitchFamily="34" charset="-120"/>
              </a:rPr>
              <a:t>ΣΧΕΔΙΑΣΗ</a:t>
            </a:r>
            <a:endParaRPr lang="en-US" sz="1300" dirty="0"/>
          </a:p>
        </p:txBody>
      </p:sp>
      <p:sp>
        <p:nvSpPr>
          <p:cNvPr id="3" name="Text 1"/>
          <p:cNvSpPr/>
          <p:nvPr/>
        </p:nvSpPr>
        <p:spPr>
          <a:xfrm>
            <a:off x="749808" y="768096"/>
            <a:ext cx="10607040" cy="868680"/>
          </a:xfrm>
          <a:prstGeom prst="rect">
            <a:avLst/>
          </a:prstGeom>
          <a:noFill/>
          <a:ln/>
        </p:spPr>
        <p:txBody>
          <a:bodyPr wrap="square" lIns="0" tIns="0" rIns="0" bIns="0" rtlCol="0" anchor="ctr"/>
          <a:lstStyle/>
          <a:p>
            <a:pPr marL="0" indent="0">
              <a:buNone/>
            </a:pPr>
            <a:r>
              <a:rPr lang="en-US" sz="3300" b="1" dirty="0">
                <a:solidFill>
                  <a:srgbClr val="0D2B6B"/>
                </a:solidFill>
                <a:latin typeface="Cambria" pitchFamily="34" charset="0"/>
                <a:ea typeface="Cambria" pitchFamily="34" charset="-122"/>
                <a:cs typeface="Cambria" pitchFamily="34" charset="-120"/>
              </a:rPr>
              <a:t>Τριεπίπεδη αρχιτεκτονική (full-stack)</a:t>
            </a:r>
            <a:endParaRPr lang="en-US" sz="3300" dirty="0"/>
          </a:p>
        </p:txBody>
      </p:sp>
      <p:sp>
        <p:nvSpPr>
          <p:cNvPr id="4" name="Text 2"/>
          <p:cNvSpPr/>
          <p:nvPr/>
        </p:nvSpPr>
        <p:spPr>
          <a:xfrm>
            <a:off x="777240" y="6437376"/>
            <a:ext cx="6400800" cy="274320"/>
          </a:xfrm>
          <a:prstGeom prst="rect">
            <a:avLst/>
          </a:prstGeom>
          <a:noFill/>
          <a:ln/>
        </p:spPr>
        <p:txBody>
          <a:bodyPr wrap="square" rtlCol="0" anchor="ctr"/>
          <a:lstStyle/>
          <a:p>
            <a:pPr marL="0" indent="0">
              <a:buNone/>
            </a:pPr>
            <a:r>
              <a:rPr lang="en-US" sz="950" dirty="0">
                <a:solidFill>
                  <a:srgbClr val="74809A"/>
                </a:solidFill>
                <a:latin typeface="Calibri" pitchFamily="34" charset="0"/>
                <a:ea typeface="Calibri" pitchFamily="34" charset="-122"/>
                <a:cs typeface="Calibri" pitchFamily="34" charset="-120"/>
              </a:rPr>
              <a:t>UoWM Library — Τεχνολογία Λογισμικού</a:t>
            </a:r>
            <a:endParaRPr lang="en-US" sz="950" dirty="0"/>
          </a:p>
        </p:txBody>
      </p:sp>
      <p:sp>
        <p:nvSpPr>
          <p:cNvPr id="5" name="Text 3"/>
          <p:cNvSpPr/>
          <p:nvPr/>
        </p:nvSpPr>
        <p:spPr>
          <a:xfrm>
            <a:off x="10972800" y="6437376"/>
            <a:ext cx="457200" cy="274320"/>
          </a:xfrm>
          <a:prstGeom prst="rect">
            <a:avLst/>
          </a:prstGeom>
          <a:noFill/>
          <a:ln/>
        </p:spPr>
        <p:txBody>
          <a:bodyPr wrap="square" rtlCol="0" anchor="ctr"/>
          <a:lstStyle/>
          <a:p>
            <a:pPr marL="0" indent="0" algn="r">
              <a:buNone/>
            </a:pPr>
            <a:r>
              <a:rPr lang="en-US" sz="950" dirty="0">
                <a:solidFill>
                  <a:srgbClr val="74809A"/>
                </a:solidFill>
                <a:latin typeface="Calibri" pitchFamily="34" charset="0"/>
                <a:ea typeface="Calibri" pitchFamily="34" charset="-122"/>
                <a:cs typeface="Calibri" pitchFamily="34" charset="-120"/>
              </a:rPr>
              <a:t>4</a:t>
            </a:r>
            <a:endParaRPr lang="en-US" sz="950" dirty="0"/>
          </a:p>
        </p:txBody>
      </p:sp>
      <p:sp>
        <p:nvSpPr>
          <p:cNvPr id="6" name="Shape 4"/>
          <p:cNvSpPr/>
          <p:nvPr/>
        </p:nvSpPr>
        <p:spPr>
          <a:xfrm>
            <a:off x="777240" y="1783080"/>
            <a:ext cx="10607040" cy="3063240"/>
          </a:xfrm>
          <a:prstGeom prst="roundRect">
            <a:avLst>
              <a:gd name="adj" fmla="val 2687"/>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pic>
        <p:nvPicPr>
          <p:cNvPr id="7" name="Image 0" descr="/home/claude/assets/component.png"/>
          <p:cNvPicPr>
            <a:picLocks noChangeAspect="1"/>
          </p:cNvPicPr>
          <p:nvPr/>
        </p:nvPicPr>
        <p:blipFill>
          <a:blip r:embed="rId3"/>
          <a:srcRect/>
          <a:stretch/>
        </p:blipFill>
        <p:spPr>
          <a:xfrm>
            <a:off x="1051560" y="2011680"/>
            <a:ext cx="10058400" cy="2606040"/>
          </a:xfrm>
          <a:prstGeom prst="rect">
            <a:avLst/>
          </a:prstGeom>
        </p:spPr>
      </p:pic>
      <p:sp>
        <p:nvSpPr>
          <p:cNvPr id="8" name="Shape 5"/>
          <p:cNvSpPr/>
          <p:nvPr/>
        </p:nvSpPr>
        <p:spPr>
          <a:xfrm>
            <a:off x="777240" y="5074920"/>
            <a:ext cx="3346704" cy="1325880"/>
          </a:xfrm>
          <a:prstGeom prst="roundRect">
            <a:avLst>
              <a:gd name="adj" fmla="val 6207"/>
            </a:avLst>
          </a:prstGeom>
          <a:solidFill>
            <a:srgbClr val="EAF0FB"/>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9" name="Shape 6"/>
          <p:cNvSpPr/>
          <p:nvPr/>
        </p:nvSpPr>
        <p:spPr>
          <a:xfrm>
            <a:off x="1005840" y="5285232"/>
            <a:ext cx="566928" cy="566928"/>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10" name="Image 1" descr="preencoded.png"/>
          <p:cNvPicPr>
            <a:picLocks noChangeAspect="1"/>
          </p:cNvPicPr>
          <p:nvPr/>
        </p:nvPicPr>
        <p:blipFill>
          <a:blip r:embed="rId4"/>
          <a:stretch>
            <a:fillRect/>
          </a:stretch>
        </p:blipFill>
        <p:spPr>
          <a:xfrm>
            <a:off x="1158911" y="5438303"/>
            <a:ext cx="260787" cy="260787"/>
          </a:xfrm>
          <a:prstGeom prst="rect">
            <a:avLst/>
          </a:prstGeom>
        </p:spPr>
      </p:pic>
      <p:sp>
        <p:nvSpPr>
          <p:cNvPr id="11" name="Text 7"/>
          <p:cNvSpPr/>
          <p:nvPr/>
        </p:nvSpPr>
        <p:spPr>
          <a:xfrm>
            <a:off x="1691640" y="5248656"/>
            <a:ext cx="2377440" cy="365760"/>
          </a:xfrm>
          <a:prstGeom prst="rect">
            <a:avLst/>
          </a:prstGeom>
          <a:noFill/>
          <a:ln/>
        </p:spPr>
        <p:txBody>
          <a:bodyPr wrap="square" rtlCol="0" anchor="ctr"/>
          <a:lstStyle/>
          <a:p>
            <a:pPr marL="0" indent="0">
              <a:buNone/>
            </a:pPr>
            <a:r>
              <a:rPr lang="en-US" sz="1450" b="1" dirty="0">
                <a:solidFill>
                  <a:srgbClr val="0D2B6B"/>
                </a:solidFill>
                <a:latin typeface="Calibri" pitchFamily="34" charset="0"/>
                <a:ea typeface="Calibri" pitchFamily="34" charset="-122"/>
                <a:cs typeface="Calibri" pitchFamily="34" charset="-120"/>
              </a:rPr>
              <a:t>Παρουσίαση</a:t>
            </a:r>
            <a:endParaRPr lang="en-US" sz="1450" dirty="0"/>
          </a:p>
        </p:txBody>
      </p:sp>
      <p:sp>
        <p:nvSpPr>
          <p:cNvPr id="12" name="Text 8"/>
          <p:cNvSpPr/>
          <p:nvPr/>
        </p:nvSpPr>
        <p:spPr>
          <a:xfrm>
            <a:off x="1691640" y="5650992"/>
            <a:ext cx="2331720" cy="640080"/>
          </a:xfrm>
          <a:prstGeom prst="rect">
            <a:avLst/>
          </a:prstGeom>
          <a:noFill/>
          <a:ln/>
        </p:spPr>
        <p:txBody>
          <a:bodyPr wrap="square" rtlCol="0" anchor="ctr"/>
          <a:lstStyle/>
          <a:p>
            <a:pPr marL="0" indent="0">
              <a:lnSpc>
                <a:spcPct val="100000"/>
              </a:lnSpc>
              <a:buNone/>
            </a:pPr>
            <a:r>
              <a:rPr lang="en-US" sz="1150" dirty="0">
                <a:solidFill>
                  <a:srgbClr val="35415C"/>
                </a:solidFill>
                <a:latin typeface="Calibri" pitchFamily="34" charset="0"/>
                <a:ea typeface="Calibri" pitchFamily="34" charset="-122"/>
                <a:cs typeface="Calibri" pitchFamily="34" charset="-120"/>
              </a:rPr>
              <a:t>Flutter Web: public site + admin panel</a:t>
            </a:r>
            <a:endParaRPr lang="en-US" sz="1150" dirty="0"/>
          </a:p>
        </p:txBody>
      </p:sp>
      <p:sp>
        <p:nvSpPr>
          <p:cNvPr id="13" name="Shape 9"/>
          <p:cNvSpPr/>
          <p:nvPr/>
        </p:nvSpPr>
        <p:spPr>
          <a:xfrm>
            <a:off x="4416552" y="5074920"/>
            <a:ext cx="3346704" cy="1325880"/>
          </a:xfrm>
          <a:prstGeom prst="roundRect">
            <a:avLst>
              <a:gd name="adj" fmla="val 6207"/>
            </a:avLst>
          </a:prstGeom>
          <a:solidFill>
            <a:srgbClr val="EAF0FB"/>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14" name="Shape 10"/>
          <p:cNvSpPr/>
          <p:nvPr/>
        </p:nvSpPr>
        <p:spPr>
          <a:xfrm>
            <a:off x="4645152" y="5285232"/>
            <a:ext cx="566928" cy="566928"/>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15" name="Image 2" descr="preencoded.png"/>
          <p:cNvPicPr>
            <a:picLocks noChangeAspect="1"/>
          </p:cNvPicPr>
          <p:nvPr/>
        </p:nvPicPr>
        <p:blipFill>
          <a:blip r:embed="rId5"/>
          <a:stretch>
            <a:fillRect/>
          </a:stretch>
        </p:blipFill>
        <p:spPr>
          <a:xfrm>
            <a:off x="4798223" y="5438303"/>
            <a:ext cx="260787" cy="260787"/>
          </a:xfrm>
          <a:prstGeom prst="rect">
            <a:avLst/>
          </a:prstGeom>
        </p:spPr>
      </p:pic>
      <p:sp>
        <p:nvSpPr>
          <p:cNvPr id="16" name="Text 11"/>
          <p:cNvSpPr/>
          <p:nvPr/>
        </p:nvSpPr>
        <p:spPr>
          <a:xfrm>
            <a:off x="5330952" y="5248656"/>
            <a:ext cx="2377440" cy="365760"/>
          </a:xfrm>
          <a:prstGeom prst="rect">
            <a:avLst/>
          </a:prstGeom>
          <a:noFill/>
          <a:ln/>
        </p:spPr>
        <p:txBody>
          <a:bodyPr wrap="square" rtlCol="0" anchor="ctr"/>
          <a:lstStyle/>
          <a:p>
            <a:pPr marL="0" indent="0">
              <a:buNone/>
            </a:pPr>
            <a:r>
              <a:rPr lang="en-US" sz="1450" b="1" dirty="0">
                <a:solidFill>
                  <a:srgbClr val="0D2B6B"/>
                </a:solidFill>
                <a:latin typeface="Calibri" pitchFamily="34" charset="0"/>
                <a:ea typeface="Calibri" pitchFamily="34" charset="-122"/>
                <a:cs typeface="Calibri" pitchFamily="34" charset="-120"/>
              </a:rPr>
              <a:t>Εφαρμογή</a:t>
            </a:r>
            <a:endParaRPr lang="en-US" sz="1450" dirty="0"/>
          </a:p>
        </p:txBody>
      </p:sp>
      <p:sp>
        <p:nvSpPr>
          <p:cNvPr id="17" name="Text 12"/>
          <p:cNvSpPr/>
          <p:nvPr/>
        </p:nvSpPr>
        <p:spPr>
          <a:xfrm>
            <a:off x="5330952" y="5650992"/>
            <a:ext cx="2331720" cy="640080"/>
          </a:xfrm>
          <a:prstGeom prst="rect">
            <a:avLst/>
          </a:prstGeom>
          <a:noFill/>
          <a:ln/>
        </p:spPr>
        <p:txBody>
          <a:bodyPr wrap="square" rtlCol="0" anchor="ctr"/>
          <a:lstStyle/>
          <a:p>
            <a:pPr marL="0" indent="0">
              <a:lnSpc>
                <a:spcPct val="100000"/>
              </a:lnSpc>
              <a:buNone/>
            </a:pPr>
            <a:r>
              <a:rPr lang="en-US" sz="1150" dirty="0">
                <a:solidFill>
                  <a:srgbClr val="35415C"/>
                </a:solidFill>
                <a:latin typeface="Calibri" pitchFamily="34" charset="0"/>
                <a:ea typeface="Calibri" pitchFamily="34" charset="-122"/>
                <a:cs typeface="Calibri" pitchFamily="34" charset="-120"/>
              </a:rPr>
              <a:t>FastAPI · REST + WebSocket · JWT</a:t>
            </a:r>
            <a:endParaRPr lang="en-US" sz="1150" dirty="0"/>
          </a:p>
        </p:txBody>
      </p:sp>
      <p:sp>
        <p:nvSpPr>
          <p:cNvPr id="18" name="Shape 13"/>
          <p:cNvSpPr/>
          <p:nvPr/>
        </p:nvSpPr>
        <p:spPr>
          <a:xfrm>
            <a:off x="8055864" y="5074920"/>
            <a:ext cx="3346704" cy="1325880"/>
          </a:xfrm>
          <a:prstGeom prst="roundRect">
            <a:avLst>
              <a:gd name="adj" fmla="val 6207"/>
            </a:avLst>
          </a:prstGeom>
          <a:solidFill>
            <a:srgbClr val="EAF0FB"/>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19" name="Shape 14"/>
          <p:cNvSpPr/>
          <p:nvPr/>
        </p:nvSpPr>
        <p:spPr>
          <a:xfrm>
            <a:off x="8284464" y="5285232"/>
            <a:ext cx="566928" cy="566928"/>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20" name="Image 3" descr="preencoded.png"/>
          <p:cNvPicPr>
            <a:picLocks noChangeAspect="1"/>
          </p:cNvPicPr>
          <p:nvPr/>
        </p:nvPicPr>
        <p:blipFill>
          <a:blip r:embed="rId6"/>
          <a:stretch>
            <a:fillRect/>
          </a:stretch>
        </p:blipFill>
        <p:spPr>
          <a:xfrm>
            <a:off x="8437535" y="5438303"/>
            <a:ext cx="260787" cy="260787"/>
          </a:xfrm>
          <a:prstGeom prst="rect">
            <a:avLst/>
          </a:prstGeom>
        </p:spPr>
      </p:pic>
      <p:sp>
        <p:nvSpPr>
          <p:cNvPr id="21" name="Text 15"/>
          <p:cNvSpPr/>
          <p:nvPr/>
        </p:nvSpPr>
        <p:spPr>
          <a:xfrm>
            <a:off x="8970264" y="5248656"/>
            <a:ext cx="2377440" cy="365760"/>
          </a:xfrm>
          <a:prstGeom prst="rect">
            <a:avLst/>
          </a:prstGeom>
          <a:noFill/>
          <a:ln/>
        </p:spPr>
        <p:txBody>
          <a:bodyPr wrap="square" rtlCol="0" anchor="ctr"/>
          <a:lstStyle/>
          <a:p>
            <a:pPr marL="0" indent="0">
              <a:buNone/>
            </a:pPr>
            <a:r>
              <a:rPr lang="en-US" sz="1450" b="1" dirty="0">
                <a:solidFill>
                  <a:srgbClr val="0D2B6B"/>
                </a:solidFill>
                <a:latin typeface="Calibri" pitchFamily="34" charset="0"/>
                <a:ea typeface="Calibri" pitchFamily="34" charset="-122"/>
                <a:cs typeface="Calibri" pitchFamily="34" charset="-120"/>
              </a:rPr>
              <a:t>Δεδομένα</a:t>
            </a:r>
            <a:endParaRPr lang="en-US" sz="1450" dirty="0"/>
          </a:p>
        </p:txBody>
      </p:sp>
      <p:sp>
        <p:nvSpPr>
          <p:cNvPr id="22" name="Text 16"/>
          <p:cNvSpPr/>
          <p:nvPr/>
        </p:nvSpPr>
        <p:spPr>
          <a:xfrm>
            <a:off x="8970264" y="5650992"/>
            <a:ext cx="2331720" cy="640080"/>
          </a:xfrm>
          <a:prstGeom prst="rect">
            <a:avLst/>
          </a:prstGeom>
          <a:noFill/>
          <a:ln/>
        </p:spPr>
        <p:txBody>
          <a:bodyPr wrap="square" rtlCol="0" anchor="ctr"/>
          <a:lstStyle/>
          <a:p>
            <a:pPr marL="0" indent="0">
              <a:lnSpc>
                <a:spcPct val="100000"/>
              </a:lnSpc>
              <a:buNone/>
            </a:pPr>
            <a:r>
              <a:rPr lang="en-US" sz="1150" dirty="0">
                <a:solidFill>
                  <a:srgbClr val="35415C"/>
                </a:solidFill>
                <a:latin typeface="Calibri" pitchFamily="34" charset="0"/>
                <a:ea typeface="Calibri" pitchFamily="34" charset="-122"/>
                <a:cs typeface="Calibri" pitchFamily="34" charset="-120"/>
              </a:rPr>
              <a:t>MongoDB (Motor) + Firebase Storage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777240" y="502920"/>
            <a:ext cx="9144000" cy="320040"/>
          </a:xfrm>
          <a:prstGeom prst="rect">
            <a:avLst/>
          </a:prstGeom>
          <a:noFill/>
          <a:ln/>
        </p:spPr>
        <p:txBody>
          <a:bodyPr wrap="square" rtlCol="0" anchor="ctr"/>
          <a:lstStyle/>
          <a:p>
            <a:pPr marL="0" indent="0">
              <a:buNone/>
            </a:pPr>
            <a:r>
              <a:rPr lang="en-US" sz="1300" b="1" kern="0" spc="300" dirty="0">
                <a:solidFill>
                  <a:srgbClr val="D4A017"/>
                </a:solidFill>
                <a:latin typeface="Calibri" pitchFamily="34" charset="0"/>
                <a:ea typeface="Calibri" pitchFamily="34" charset="-122"/>
                <a:cs typeface="Calibri" pitchFamily="34" charset="-120"/>
              </a:rPr>
              <a:t>ΤΕΧΝΟΛΟΓΙΕΣ</a:t>
            </a:r>
            <a:endParaRPr lang="en-US" sz="1300" dirty="0"/>
          </a:p>
        </p:txBody>
      </p:sp>
      <p:sp>
        <p:nvSpPr>
          <p:cNvPr id="3" name="Text 1"/>
          <p:cNvSpPr/>
          <p:nvPr/>
        </p:nvSpPr>
        <p:spPr>
          <a:xfrm>
            <a:off x="749808" y="768096"/>
            <a:ext cx="10607040" cy="868680"/>
          </a:xfrm>
          <a:prstGeom prst="rect">
            <a:avLst/>
          </a:prstGeom>
          <a:noFill/>
          <a:ln/>
        </p:spPr>
        <p:txBody>
          <a:bodyPr wrap="square" lIns="0" tIns="0" rIns="0" bIns="0" rtlCol="0" anchor="ctr"/>
          <a:lstStyle/>
          <a:p>
            <a:pPr marL="0" indent="0">
              <a:buNone/>
            </a:pPr>
            <a:r>
              <a:rPr lang="en-US" sz="3300" b="1" dirty="0">
                <a:solidFill>
                  <a:srgbClr val="0D2B6B"/>
                </a:solidFill>
                <a:latin typeface="Cambria" pitchFamily="34" charset="0"/>
                <a:ea typeface="Cambria" pitchFamily="34" charset="-122"/>
                <a:cs typeface="Cambria" pitchFamily="34" charset="-120"/>
              </a:rPr>
              <a:t>Τεχνολογική στοίβα</a:t>
            </a:r>
            <a:endParaRPr lang="en-US" sz="3300" dirty="0"/>
          </a:p>
        </p:txBody>
      </p:sp>
      <p:sp>
        <p:nvSpPr>
          <p:cNvPr id="4" name="Text 2"/>
          <p:cNvSpPr/>
          <p:nvPr/>
        </p:nvSpPr>
        <p:spPr>
          <a:xfrm>
            <a:off x="777240" y="6437376"/>
            <a:ext cx="6400800" cy="274320"/>
          </a:xfrm>
          <a:prstGeom prst="rect">
            <a:avLst/>
          </a:prstGeom>
          <a:noFill/>
          <a:ln/>
        </p:spPr>
        <p:txBody>
          <a:bodyPr wrap="square" rtlCol="0" anchor="ctr"/>
          <a:lstStyle/>
          <a:p>
            <a:pPr marL="0" indent="0">
              <a:buNone/>
            </a:pPr>
            <a:r>
              <a:rPr lang="en-US" sz="950" dirty="0">
                <a:solidFill>
                  <a:srgbClr val="74809A"/>
                </a:solidFill>
                <a:latin typeface="Calibri" pitchFamily="34" charset="0"/>
                <a:ea typeface="Calibri" pitchFamily="34" charset="-122"/>
                <a:cs typeface="Calibri" pitchFamily="34" charset="-120"/>
              </a:rPr>
              <a:t>UoWM Library — Τεχνολογία Λογισμικού</a:t>
            </a:r>
            <a:endParaRPr lang="en-US" sz="950" dirty="0"/>
          </a:p>
        </p:txBody>
      </p:sp>
      <p:sp>
        <p:nvSpPr>
          <p:cNvPr id="5" name="Text 3"/>
          <p:cNvSpPr/>
          <p:nvPr/>
        </p:nvSpPr>
        <p:spPr>
          <a:xfrm>
            <a:off x="10972800" y="6437376"/>
            <a:ext cx="457200" cy="274320"/>
          </a:xfrm>
          <a:prstGeom prst="rect">
            <a:avLst/>
          </a:prstGeom>
          <a:noFill/>
          <a:ln/>
        </p:spPr>
        <p:txBody>
          <a:bodyPr wrap="square" rtlCol="0" anchor="ctr"/>
          <a:lstStyle/>
          <a:p>
            <a:pPr marL="0" indent="0" algn="r">
              <a:buNone/>
            </a:pPr>
            <a:r>
              <a:rPr lang="en-US" sz="950" dirty="0">
                <a:solidFill>
                  <a:srgbClr val="74809A"/>
                </a:solidFill>
                <a:latin typeface="Calibri" pitchFamily="34" charset="0"/>
                <a:ea typeface="Calibri" pitchFamily="34" charset="-122"/>
                <a:cs typeface="Calibri" pitchFamily="34" charset="-120"/>
              </a:rPr>
              <a:t>5</a:t>
            </a:r>
            <a:endParaRPr lang="en-US" sz="950" dirty="0"/>
          </a:p>
        </p:txBody>
      </p:sp>
      <p:sp>
        <p:nvSpPr>
          <p:cNvPr id="6" name="Shape 4"/>
          <p:cNvSpPr/>
          <p:nvPr/>
        </p:nvSpPr>
        <p:spPr>
          <a:xfrm>
            <a:off x="777240" y="1920240"/>
            <a:ext cx="3383280" cy="1828800"/>
          </a:xfrm>
          <a:prstGeom prst="roundRect">
            <a:avLst>
              <a:gd name="adj" fmla="val 450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7" name="Shape 5"/>
          <p:cNvSpPr/>
          <p:nvPr/>
        </p:nvSpPr>
        <p:spPr>
          <a:xfrm>
            <a:off x="2103120" y="2194560"/>
            <a:ext cx="731520" cy="731520"/>
          </a:xfrm>
          <a:prstGeom prst="ellipse">
            <a:avLst/>
          </a:prstGeom>
          <a:solidFill>
            <a:srgbClr val="FBF1D9"/>
          </a:solidFill>
          <a:ln/>
          <a:effectLst>
            <a:outerShdw blurRad="88900" dist="25400" dir="2700000" algn="bl" rotWithShape="0">
              <a:srgbClr val="0A1430">
                <a:alpha val="18000"/>
              </a:srgbClr>
            </a:outerShdw>
          </a:effectLst>
        </p:spPr>
        <p:txBody>
          <a:bodyPr/>
          <a:lstStyle/>
          <a:p>
            <a:endParaRPr lang="el-GR"/>
          </a:p>
        </p:txBody>
      </p:sp>
      <p:pic>
        <p:nvPicPr>
          <p:cNvPr id="8" name="Image 0" descr="preencoded.png"/>
          <p:cNvPicPr>
            <a:picLocks noChangeAspect="1"/>
          </p:cNvPicPr>
          <p:nvPr/>
        </p:nvPicPr>
        <p:blipFill>
          <a:blip r:embed="rId3"/>
          <a:stretch>
            <a:fillRect/>
          </a:stretch>
        </p:blipFill>
        <p:spPr>
          <a:xfrm>
            <a:off x="2300630" y="2392070"/>
            <a:ext cx="336499" cy="336499"/>
          </a:xfrm>
          <a:prstGeom prst="rect">
            <a:avLst/>
          </a:prstGeom>
        </p:spPr>
      </p:pic>
      <p:sp>
        <p:nvSpPr>
          <p:cNvPr id="9" name="Text 6"/>
          <p:cNvSpPr/>
          <p:nvPr/>
        </p:nvSpPr>
        <p:spPr>
          <a:xfrm>
            <a:off x="868680" y="3017520"/>
            <a:ext cx="3200400" cy="365760"/>
          </a:xfrm>
          <a:prstGeom prst="rect">
            <a:avLst/>
          </a:prstGeom>
          <a:noFill/>
          <a:ln/>
        </p:spPr>
        <p:txBody>
          <a:bodyPr wrap="square" rtlCol="0" anchor="ctr"/>
          <a:lstStyle/>
          <a:p>
            <a:pPr marL="0" indent="0" algn="ctr">
              <a:buNone/>
            </a:pPr>
            <a:r>
              <a:rPr lang="en-US" sz="1650" b="1" dirty="0">
                <a:solidFill>
                  <a:srgbClr val="0D2B6B"/>
                </a:solidFill>
                <a:latin typeface="Calibri" pitchFamily="34" charset="0"/>
                <a:ea typeface="Calibri" pitchFamily="34" charset="-122"/>
                <a:cs typeface="Calibri" pitchFamily="34" charset="-120"/>
              </a:rPr>
              <a:t>Flutter / Dart</a:t>
            </a:r>
            <a:endParaRPr lang="en-US" sz="1650" dirty="0"/>
          </a:p>
        </p:txBody>
      </p:sp>
      <p:sp>
        <p:nvSpPr>
          <p:cNvPr id="10" name="Text 7"/>
          <p:cNvSpPr/>
          <p:nvPr/>
        </p:nvSpPr>
        <p:spPr>
          <a:xfrm>
            <a:off x="868680" y="3383280"/>
            <a:ext cx="3200400" cy="320040"/>
          </a:xfrm>
          <a:prstGeom prst="rect">
            <a:avLst/>
          </a:prstGeom>
          <a:noFill/>
          <a:ln/>
        </p:spPr>
        <p:txBody>
          <a:bodyPr wrap="square" rtlCol="0" anchor="ctr"/>
          <a:lstStyle/>
          <a:p>
            <a:pPr marL="0" indent="0" algn="ctr">
              <a:buNone/>
            </a:pPr>
            <a:r>
              <a:rPr lang="en-US" sz="1200" dirty="0">
                <a:solidFill>
                  <a:srgbClr val="74809A"/>
                </a:solidFill>
                <a:latin typeface="Calibri" pitchFamily="34" charset="0"/>
                <a:ea typeface="Calibri" pitchFamily="34" charset="-122"/>
                <a:cs typeface="Calibri" pitchFamily="34" charset="-120"/>
              </a:rPr>
              <a:t>Public site &amp; Admin (Web)</a:t>
            </a:r>
            <a:endParaRPr lang="en-US" sz="1200" dirty="0"/>
          </a:p>
        </p:txBody>
      </p:sp>
      <p:sp>
        <p:nvSpPr>
          <p:cNvPr id="11" name="Shape 8"/>
          <p:cNvSpPr/>
          <p:nvPr/>
        </p:nvSpPr>
        <p:spPr>
          <a:xfrm>
            <a:off x="4434840" y="1920240"/>
            <a:ext cx="3383280" cy="1828800"/>
          </a:xfrm>
          <a:prstGeom prst="roundRect">
            <a:avLst>
              <a:gd name="adj" fmla="val 450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12" name="Shape 9"/>
          <p:cNvSpPr/>
          <p:nvPr/>
        </p:nvSpPr>
        <p:spPr>
          <a:xfrm>
            <a:off x="5760720" y="2194560"/>
            <a:ext cx="731520" cy="731520"/>
          </a:xfrm>
          <a:prstGeom prst="ellipse">
            <a:avLst/>
          </a:prstGeom>
          <a:solidFill>
            <a:srgbClr val="FBF1D9"/>
          </a:solidFill>
          <a:ln/>
          <a:effectLst>
            <a:outerShdw blurRad="88900" dist="25400" dir="2700000" algn="bl" rotWithShape="0">
              <a:srgbClr val="0A1430">
                <a:alpha val="18000"/>
              </a:srgbClr>
            </a:outerShdw>
          </a:effectLst>
        </p:spPr>
        <p:txBody>
          <a:bodyPr/>
          <a:lstStyle/>
          <a:p>
            <a:endParaRPr lang="el-GR"/>
          </a:p>
        </p:txBody>
      </p:sp>
      <p:pic>
        <p:nvPicPr>
          <p:cNvPr id="13" name="Image 1" descr="preencoded.png"/>
          <p:cNvPicPr>
            <a:picLocks noChangeAspect="1"/>
          </p:cNvPicPr>
          <p:nvPr/>
        </p:nvPicPr>
        <p:blipFill>
          <a:blip r:embed="rId4"/>
          <a:stretch>
            <a:fillRect/>
          </a:stretch>
        </p:blipFill>
        <p:spPr>
          <a:xfrm>
            <a:off x="5958230" y="2392070"/>
            <a:ext cx="336499" cy="336499"/>
          </a:xfrm>
          <a:prstGeom prst="rect">
            <a:avLst/>
          </a:prstGeom>
        </p:spPr>
      </p:pic>
      <p:sp>
        <p:nvSpPr>
          <p:cNvPr id="14" name="Text 10"/>
          <p:cNvSpPr/>
          <p:nvPr/>
        </p:nvSpPr>
        <p:spPr>
          <a:xfrm>
            <a:off x="4526280" y="3017520"/>
            <a:ext cx="3200400" cy="365760"/>
          </a:xfrm>
          <a:prstGeom prst="rect">
            <a:avLst/>
          </a:prstGeom>
          <a:noFill/>
          <a:ln/>
        </p:spPr>
        <p:txBody>
          <a:bodyPr wrap="square" rtlCol="0" anchor="ctr"/>
          <a:lstStyle/>
          <a:p>
            <a:pPr marL="0" indent="0" algn="ctr">
              <a:buNone/>
            </a:pPr>
            <a:r>
              <a:rPr lang="en-US" sz="1650" b="1" dirty="0">
                <a:solidFill>
                  <a:srgbClr val="0D2B6B"/>
                </a:solidFill>
                <a:latin typeface="Calibri" pitchFamily="34" charset="0"/>
                <a:ea typeface="Calibri" pitchFamily="34" charset="-122"/>
                <a:cs typeface="Calibri" pitchFamily="34" charset="-120"/>
              </a:rPr>
              <a:t>FastAPI · Python</a:t>
            </a:r>
            <a:endParaRPr lang="en-US" sz="1650" dirty="0"/>
          </a:p>
        </p:txBody>
      </p:sp>
      <p:sp>
        <p:nvSpPr>
          <p:cNvPr id="15" name="Text 11"/>
          <p:cNvSpPr/>
          <p:nvPr/>
        </p:nvSpPr>
        <p:spPr>
          <a:xfrm>
            <a:off x="4526280" y="3383280"/>
            <a:ext cx="3200400" cy="320040"/>
          </a:xfrm>
          <a:prstGeom prst="rect">
            <a:avLst/>
          </a:prstGeom>
          <a:noFill/>
          <a:ln/>
        </p:spPr>
        <p:txBody>
          <a:bodyPr wrap="square" rtlCol="0" anchor="ctr"/>
          <a:lstStyle/>
          <a:p>
            <a:pPr marL="0" indent="0" algn="ctr">
              <a:buNone/>
            </a:pPr>
            <a:r>
              <a:rPr lang="en-US" sz="1200" dirty="0">
                <a:solidFill>
                  <a:srgbClr val="74809A"/>
                </a:solidFill>
                <a:latin typeface="Calibri" pitchFamily="34" charset="0"/>
                <a:ea typeface="Calibri" pitchFamily="34" charset="-122"/>
                <a:cs typeface="Calibri" pitchFamily="34" charset="-120"/>
              </a:rPr>
              <a:t>Async REST API + Swagger</a:t>
            </a:r>
            <a:endParaRPr lang="en-US" sz="1200" dirty="0"/>
          </a:p>
        </p:txBody>
      </p:sp>
      <p:sp>
        <p:nvSpPr>
          <p:cNvPr id="16" name="Shape 12"/>
          <p:cNvSpPr/>
          <p:nvPr/>
        </p:nvSpPr>
        <p:spPr>
          <a:xfrm>
            <a:off x="8092440" y="1920240"/>
            <a:ext cx="3383280" cy="1828800"/>
          </a:xfrm>
          <a:prstGeom prst="roundRect">
            <a:avLst>
              <a:gd name="adj" fmla="val 450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17" name="Shape 13"/>
          <p:cNvSpPr/>
          <p:nvPr/>
        </p:nvSpPr>
        <p:spPr>
          <a:xfrm>
            <a:off x="9418320" y="2194560"/>
            <a:ext cx="731520" cy="731520"/>
          </a:xfrm>
          <a:prstGeom prst="ellipse">
            <a:avLst/>
          </a:prstGeom>
          <a:solidFill>
            <a:srgbClr val="FBF1D9"/>
          </a:solidFill>
          <a:ln/>
          <a:effectLst>
            <a:outerShdw blurRad="88900" dist="25400" dir="2700000" algn="bl" rotWithShape="0">
              <a:srgbClr val="0A1430">
                <a:alpha val="18000"/>
              </a:srgbClr>
            </a:outerShdw>
          </a:effectLst>
        </p:spPr>
        <p:txBody>
          <a:bodyPr/>
          <a:lstStyle/>
          <a:p>
            <a:endParaRPr lang="el-GR"/>
          </a:p>
        </p:txBody>
      </p:sp>
      <p:pic>
        <p:nvPicPr>
          <p:cNvPr id="18" name="Image 2" descr="preencoded.png"/>
          <p:cNvPicPr>
            <a:picLocks noChangeAspect="1"/>
          </p:cNvPicPr>
          <p:nvPr/>
        </p:nvPicPr>
        <p:blipFill>
          <a:blip r:embed="rId5"/>
          <a:stretch>
            <a:fillRect/>
          </a:stretch>
        </p:blipFill>
        <p:spPr>
          <a:xfrm>
            <a:off x="9615830" y="2392070"/>
            <a:ext cx="336499" cy="336499"/>
          </a:xfrm>
          <a:prstGeom prst="rect">
            <a:avLst/>
          </a:prstGeom>
        </p:spPr>
      </p:pic>
      <p:sp>
        <p:nvSpPr>
          <p:cNvPr id="19" name="Text 14"/>
          <p:cNvSpPr/>
          <p:nvPr/>
        </p:nvSpPr>
        <p:spPr>
          <a:xfrm>
            <a:off x="8183880" y="3017520"/>
            <a:ext cx="3200400" cy="365760"/>
          </a:xfrm>
          <a:prstGeom prst="rect">
            <a:avLst/>
          </a:prstGeom>
          <a:noFill/>
          <a:ln/>
        </p:spPr>
        <p:txBody>
          <a:bodyPr wrap="square" rtlCol="0" anchor="ctr"/>
          <a:lstStyle/>
          <a:p>
            <a:pPr marL="0" indent="0" algn="ctr">
              <a:buNone/>
            </a:pPr>
            <a:r>
              <a:rPr lang="en-US" sz="1650" b="1" dirty="0">
                <a:solidFill>
                  <a:srgbClr val="0D2B6B"/>
                </a:solidFill>
                <a:latin typeface="Calibri" pitchFamily="34" charset="0"/>
                <a:ea typeface="Calibri" pitchFamily="34" charset="-122"/>
                <a:cs typeface="Calibri" pitchFamily="34" charset="-120"/>
              </a:rPr>
              <a:t>MongoDB</a:t>
            </a:r>
            <a:endParaRPr lang="en-US" sz="1650" dirty="0"/>
          </a:p>
        </p:txBody>
      </p:sp>
      <p:sp>
        <p:nvSpPr>
          <p:cNvPr id="20" name="Text 15"/>
          <p:cNvSpPr/>
          <p:nvPr/>
        </p:nvSpPr>
        <p:spPr>
          <a:xfrm>
            <a:off x="8183880" y="3383280"/>
            <a:ext cx="3200400" cy="320040"/>
          </a:xfrm>
          <a:prstGeom prst="rect">
            <a:avLst/>
          </a:prstGeom>
          <a:noFill/>
          <a:ln/>
        </p:spPr>
        <p:txBody>
          <a:bodyPr wrap="square" rtlCol="0" anchor="ctr"/>
          <a:lstStyle/>
          <a:p>
            <a:pPr marL="0" indent="0" algn="ctr">
              <a:buNone/>
            </a:pPr>
            <a:r>
              <a:rPr lang="en-US" sz="1200" dirty="0">
                <a:solidFill>
                  <a:srgbClr val="74809A"/>
                </a:solidFill>
                <a:latin typeface="Calibri" pitchFamily="34" charset="0"/>
                <a:ea typeface="Calibri" pitchFamily="34" charset="-122"/>
                <a:cs typeface="Calibri" pitchFamily="34" charset="-120"/>
              </a:rPr>
              <a:t>Motor async driver</a:t>
            </a:r>
            <a:endParaRPr lang="en-US" sz="1200" dirty="0"/>
          </a:p>
        </p:txBody>
      </p:sp>
      <p:sp>
        <p:nvSpPr>
          <p:cNvPr id="21" name="Shape 16"/>
          <p:cNvSpPr/>
          <p:nvPr/>
        </p:nvSpPr>
        <p:spPr>
          <a:xfrm>
            <a:off x="777240" y="3977640"/>
            <a:ext cx="3383280" cy="1828800"/>
          </a:xfrm>
          <a:prstGeom prst="roundRect">
            <a:avLst>
              <a:gd name="adj" fmla="val 450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22" name="Shape 17"/>
          <p:cNvSpPr/>
          <p:nvPr/>
        </p:nvSpPr>
        <p:spPr>
          <a:xfrm>
            <a:off x="2103120" y="4251960"/>
            <a:ext cx="731520" cy="731520"/>
          </a:xfrm>
          <a:prstGeom prst="ellipse">
            <a:avLst/>
          </a:prstGeom>
          <a:solidFill>
            <a:srgbClr val="FBF1D9"/>
          </a:solidFill>
          <a:ln/>
          <a:effectLst>
            <a:outerShdw blurRad="88900" dist="25400" dir="2700000" algn="bl" rotWithShape="0">
              <a:srgbClr val="0A1430">
                <a:alpha val="18000"/>
              </a:srgbClr>
            </a:outerShdw>
          </a:effectLst>
        </p:spPr>
        <p:txBody>
          <a:bodyPr/>
          <a:lstStyle/>
          <a:p>
            <a:endParaRPr lang="el-GR"/>
          </a:p>
        </p:txBody>
      </p:sp>
      <p:pic>
        <p:nvPicPr>
          <p:cNvPr id="23" name="Image 3" descr="preencoded.png"/>
          <p:cNvPicPr>
            <a:picLocks noChangeAspect="1"/>
          </p:cNvPicPr>
          <p:nvPr/>
        </p:nvPicPr>
        <p:blipFill>
          <a:blip r:embed="rId6"/>
          <a:stretch>
            <a:fillRect/>
          </a:stretch>
        </p:blipFill>
        <p:spPr>
          <a:xfrm>
            <a:off x="2300630" y="4449470"/>
            <a:ext cx="336499" cy="336499"/>
          </a:xfrm>
          <a:prstGeom prst="rect">
            <a:avLst/>
          </a:prstGeom>
        </p:spPr>
      </p:pic>
      <p:sp>
        <p:nvSpPr>
          <p:cNvPr id="24" name="Text 18"/>
          <p:cNvSpPr/>
          <p:nvPr/>
        </p:nvSpPr>
        <p:spPr>
          <a:xfrm>
            <a:off x="868680" y="5074920"/>
            <a:ext cx="3200400" cy="365760"/>
          </a:xfrm>
          <a:prstGeom prst="rect">
            <a:avLst/>
          </a:prstGeom>
          <a:noFill/>
          <a:ln/>
        </p:spPr>
        <p:txBody>
          <a:bodyPr wrap="square" rtlCol="0" anchor="ctr"/>
          <a:lstStyle/>
          <a:p>
            <a:pPr marL="0" indent="0" algn="ctr">
              <a:buNone/>
            </a:pPr>
            <a:r>
              <a:rPr lang="en-US" sz="1650" b="1" dirty="0">
                <a:solidFill>
                  <a:srgbClr val="0D2B6B"/>
                </a:solidFill>
                <a:latin typeface="Calibri" pitchFamily="34" charset="0"/>
                <a:ea typeface="Calibri" pitchFamily="34" charset="-122"/>
                <a:cs typeface="Calibri" pitchFamily="34" charset="-120"/>
              </a:rPr>
              <a:t>Firebase Storage</a:t>
            </a:r>
            <a:endParaRPr lang="en-US" sz="1650" dirty="0"/>
          </a:p>
        </p:txBody>
      </p:sp>
      <p:sp>
        <p:nvSpPr>
          <p:cNvPr id="25" name="Text 19"/>
          <p:cNvSpPr/>
          <p:nvPr/>
        </p:nvSpPr>
        <p:spPr>
          <a:xfrm>
            <a:off x="868680" y="5440680"/>
            <a:ext cx="3200400" cy="320040"/>
          </a:xfrm>
          <a:prstGeom prst="rect">
            <a:avLst/>
          </a:prstGeom>
          <a:noFill/>
          <a:ln/>
        </p:spPr>
        <p:txBody>
          <a:bodyPr wrap="square" rtlCol="0" anchor="ctr"/>
          <a:lstStyle/>
          <a:p>
            <a:pPr marL="0" indent="0" algn="ctr">
              <a:buNone/>
            </a:pPr>
            <a:r>
              <a:rPr lang="en-US" sz="1200" dirty="0">
                <a:solidFill>
                  <a:srgbClr val="74809A"/>
                </a:solidFill>
                <a:latin typeface="Calibri" pitchFamily="34" charset="0"/>
                <a:ea typeface="Calibri" pitchFamily="34" charset="-122"/>
                <a:cs typeface="Calibri" pitchFamily="34" charset="-120"/>
              </a:rPr>
              <a:t>Εικόνες &amp; αρχεία (media)</a:t>
            </a:r>
            <a:endParaRPr lang="en-US" sz="1200" dirty="0"/>
          </a:p>
        </p:txBody>
      </p:sp>
      <p:sp>
        <p:nvSpPr>
          <p:cNvPr id="26" name="Shape 20"/>
          <p:cNvSpPr/>
          <p:nvPr/>
        </p:nvSpPr>
        <p:spPr>
          <a:xfrm>
            <a:off x="4434840" y="3977640"/>
            <a:ext cx="3383280" cy="1828800"/>
          </a:xfrm>
          <a:prstGeom prst="roundRect">
            <a:avLst>
              <a:gd name="adj" fmla="val 450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27" name="Shape 21"/>
          <p:cNvSpPr/>
          <p:nvPr/>
        </p:nvSpPr>
        <p:spPr>
          <a:xfrm>
            <a:off x="5760720" y="4251960"/>
            <a:ext cx="731520" cy="731520"/>
          </a:xfrm>
          <a:prstGeom prst="ellipse">
            <a:avLst/>
          </a:prstGeom>
          <a:solidFill>
            <a:srgbClr val="FBF1D9"/>
          </a:solidFill>
          <a:ln/>
          <a:effectLst>
            <a:outerShdw blurRad="88900" dist="25400" dir="2700000" algn="bl" rotWithShape="0">
              <a:srgbClr val="0A1430">
                <a:alpha val="18000"/>
              </a:srgbClr>
            </a:outerShdw>
          </a:effectLst>
        </p:spPr>
        <p:txBody>
          <a:bodyPr/>
          <a:lstStyle/>
          <a:p>
            <a:endParaRPr lang="el-GR"/>
          </a:p>
        </p:txBody>
      </p:sp>
      <p:pic>
        <p:nvPicPr>
          <p:cNvPr id="28" name="Image 4" descr="preencoded.png"/>
          <p:cNvPicPr>
            <a:picLocks noChangeAspect="1"/>
          </p:cNvPicPr>
          <p:nvPr/>
        </p:nvPicPr>
        <p:blipFill>
          <a:blip r:embed="rId7"/>
          <a:stretch>
            <a:fillRect/>
          </a:stretch>
        </p:blipFill>
        <p:spPr>
          <a:xfrm>
            <a:off x="5958230" y="4449470"/>
            <a:ext cx="336499" cy="336499"/>
          </a:xfrm>
          <a:prstGeom prst="rect">
            <a:avLst/>
          </a:prstGeom>
        </p:spPr>
      </p:pic>
      <p:sp>
        <p:nvSpPr>
          <p:cNvPr id="29" name="Text 22"/>
          <p:cNvSpPr/>
          <p:nvPr/>
        </p:nvSpPr>
        <p:spPr>
          <a:xfrm>
            <a:off x="4526280" y="5074920"/>
            <a:ext cx="3200400" cy="365760"/>
          </a:xfrm>
          <a:prstGeom prst="rect">
            <a:avLst/>
          </a:prstGeom>
          <a:noFill/>
          <a:ln/>
        </p:spPr>
        <p:txBody>
          <a:bodyPr wrap="square" rtlCol="0" anchor="ctr"/>
          <a:lstStyle/>
          <a:p>
            <a:pPr marL="0" indent="0" algn="ctr">
              <a:buNone/>
            </a:pPr>
            <a:r>
              <a:rPr lang="en-US" sz="1650" b="1" dirty="0">
                <a:solidFill>
                  <a:srgbClr val="0D2B6B"/>
                </a:solidFill>
                <a:latin typeface="Calibri" pitchFamily="34" charset="0"/>
                <a:ea typeface="Calibri" pitchFamily="34" charset="-122"/>
                <a:cs typeface="Calibri" pitchFamily="34" charset="-120"/>
              </a:rPr>
              <a:t>JWT · bcrypt</a:t>
            </a:r>
            <a:endParaRPr lang="en-US" sz="1650" dirty="0"/>
          </a:p>
        </p:txBody>
      </p:sp>
      <p:sp>
        <p:nvSpPr>
          <p:cNvPr id="30" name="Text 23"/>
          <p:cNvSpPr/>
          <p:nvPr/>
        </p:nvSpPr>
        <p:spPr>
          <a:xfrm>
            <a:off x="4526280" y="5440680"/>
            <a:ext cx="3200400" cy="320040"/>
          </a:xfrm>
          <a:prstGeom prst="rect">
            <a:avLst/>
          </a:prstGeom>
          <a:noFill/>
          <a:ln/>
        </p:spPr>
        <p:txBody>
          <a:bodyPr wrap="square" rtlCol="0" anchor="ctr"/>
          <a:lstStyle/>
          <a:p>
            <a:pPr marL="0" indent="0" algn="ctr">
              <a:buNone/>
            </a:pPr>
            <a:r>
              <a:rPr lang="en-US" sz="1200" dirty="0">
                <a:solidFill>
                  <a:srgbClr val="74809A"/>
                </a:solidFill>
                <a:latin typeface="Calibri" pitchFamily="34" charset="0"/>
                <a:ea typeface="Calibri" pitchFamily="34" charset="-122"/>
                <a:cs typeface="Calibri" pitchFamily="34" charset="-120"/>
              </a:rPr>
              <a:t>Αυθεντικοποίηση admin</a:t>
            </a:r>
            <a:endParaRPr lang="en-US" sz="1200" dirty="0"/>
          </a:p>
        </p:txBody>
      </p:sp>
      <p:sp>
        <p:nvSpPr>
          <p:cNvPr id="31" name="Shape 24"/>
          <p:cNvSpPr/>
          <p:nvPr/>
        </p:nvSpPr>
        <p:spPr>
          <a:xfrm>
            <a:off x="8092440" y="3977640"/>
            <a:ext cx="3383280" cy="1828800"/>
          </a:xfrm>
          <a:prstGeom prst="roundRect">
            <a:avLst>
              <a:gd name="adj" fmla="val 450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32" name="Shape 25"/>
          <p:cNvSpPr/>
          <p:nvPr/>
        </p:nvSpPr>
        <p:spPr>
          <a:xfrm>
            <a:off x="9418320" y="4251960"/>
            <a:ext cx="731520" cy="731520"/>
          </a:xfrm>
          <a:prstGeom prst="ellipse">
            <a:avLst/>
          </a:prstGeom>
          <a:solidFill>
            <a:srgbClr val="FBF1D9"/>
          </a:solidFill>
          <a:ln/>
          <a:effectLst>
            <a:outerShdw blurRad="88900" dist="25400" dir="2700000" algn="bl" rotWithShape="0">
              <a:srgbClr val="0A1430">
                <a:alpha val="18000"/>
              </a:srgbClr>
            </a:outerShdw>
          </a:effectLst>
        </p:spPr>
        <p:txBody>
          <a:bodyPr/>
          <a:lstStyle/>
          <a:p>
            <a:endParaRPr lang="el-GR"/>
          </a:p>
        </p:txBody>
      </p:sp>
      <p:pic>
        <p:nvPicPr>
          <p:cNvPr id="33" name="Image 5" descr="preencoded.png"/>
          <p:cNvPicPr>
            <a:picLocks noChangeAspect="1"/>
          </p:cNvPicPr>
          <p:nvPr/>
        </p:nvPicPr>
        <p:blipFill>
          <a:blip r:embed="rId8"/>
          <a:stretch>
            <a:fillRect/>
          </a:stretch>
        </p:blipFill>
        <p:spPr>
          <a:xfrm>
            <a:off x="9615830" y="4449470"/>
            <a:ext cx="336499" cy="336499"/>
          </a:xfrm>
          <a:prstGeom prst="rect">
            <a:avLst/>
          </a:prstGeom>
        </p:spPr>
      </p:pic>
      <p:sp>
        <p:nvSpPr>
          <p:cNvPr id="34" name="Text 26"/>
          <p:cNvSpPr/>
          <p:nvPr/>
        </p:nvSpPr>
        <p:spPr>
          <a:xfrm>
            <a:off x="8183880" y="5074920"/>
            <a:ext cx="3200400" cy="365760"/>
          </a:xfrm>
          <a:prstGeom prst="rect">
            <a:avLst/>
          </a:prstGeom>
          <a:noFill/>
          <a:ln/>
        </p:spPr>
        <p:txBody>
          <a:bodyPr wrap="square" rtlCol="0" anchor="ctr"/>
          <a:lstStyle/>
          <a:p>
            <a:pPr marL="0" indent="0" algn="ctr">
              <a:buNone/>
            </a:pPr>
            <a:r>
              <a:rPr lang="en-US" sz="1650" b="1" dirty="0">
                <a:solidFill>
                  <a:srgbClr val="0D2B6B"/>
                </a:solidFill>
                <a:latin typeface="Calibri" pitchFamily="34" charset="0"/>
                <a:ea typeface="Calibri" pitchFamily="34" charset="-122"/>
                <a:cs typeface="Calibri" pitchFamily="34" charset="-120"/>
              </a:rPr>
              <a:t>WebSocket</a:t>
            </a:r>
            <a:endParaRPr lang="en-US" sz="1650" dirty="0"/>
          </a:p>
        </p:txBody>
      </p:sp>
      <p:sp>
        <p:nvSpPr>
          <p:cNvPr id="35" name="Text 27"/>
          <p:cNvSpPr/>
          <p:nvPr/>
        </p:nvSpPr>
        <p:spPr>
          <a:xfrm>
            <a:off x="8183880" y="5440680"/>
            <a:ext cx="3200400" cy="320040"/>
          </a:xfrm>
          <a:prstGeom prst="rect">
            <a:avLst/>
          </a:prstGeom>
          <a:noFill/>
          <a:ln/>
        </p:spPr>
        <p:txBody>
          <a:bodyPr wrap="square" rtlCol="0" anchor="ctr"/>
          <a:lstStyle/>
          <a:p>
            <a:pPr marL="0" indent="0" algn="ctr">
              <a:buNone/>
            </a:pPr>
            <a:r>
              <a:rPr lang="en-US" sz="1200" dirty="0">
                <a:solidFill>
                  <a:srgbClr val="74809A"/>
                </a:solidFill>
                <a:latin typeface="Calibri" pitchFamily="34" charset="0"/>
                <a:ea typeface="Calibri" pitchFamily="34" charset="-122"/>
                <a:cs typeface="Calibri" pitchFamily="34" charset="-120"/>
              </a:rPr>
              <a:t>Live chat σε πραγματικό χρόνο</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777240" y="502920"/>
            <a:ext cx="9144000" cy="320040"/>
          </a:xfrm>
          <a:prstGeom prst="rect">
            <a:avLst/>
          </a:prstGeom>
          <a:noFill/>
          <a:ln/>
        </p:spPr>
        <p:txBody>
          <a:bodyPr wrap="square" rtlCol="0" anchor="ctr"/>
          <a:lstStyle/>
          <a:p>
            <a:pPr marL="0" indent="0">
              <a:buNone/>
            </a:pPr>
            <a:r>
              <a:rPr lang="en-US" sz="1300" b="1" kern="0" spc="300" dirty="0">
                <a:solidFill>
                  <a:srgbClr val="D4A017"/>
                </a:solidFill>
                <a:latin typeface="Calibri" pitchFamily="34" charset="0"/>
                <a:ea typeface="Calibri" pitchFamily="34" charset="-122"/>
                <a:cs typeface="Calibri" pitchFamily="34" charset="-120"/>
              </a:rPr>
              <a:t>ΛΕΙΤΟΥΡΓΙΕΣ</a:t>
            </a:r>
            <a:endParaRPr lang="en-US" sz="1300" dirty="0"/>
          </a:p>
        </p:txBody>
      </p:sp>
      <p:sp>
        <p:nvSpPr>
          <p:cNvPr id="3" name="Text 1"/>
          <p:cNvSpPr/>
          <p:nvPr/>
        </p:nvSpPr>
        <p:spPr>
          <a:xfrm>
            <a:off x="749808" y="768096"/>
            <a:ext cx="10607040" cy="868680"/>
          </a:xfrm>
          <a:prstGeom prst="rect">
            <a:avLst/>
          </a:prstGeom>
          <a:noFill/>
          <a:ln/>
        </p:spPr>
        <p:txBody>
          <a:bodyPr wrap="square" lIns="0" tIns="0" rIns="0" bIns="0" rtlCol="0" anchor="ctr"/>
          <a:lstStyle/>
          <a:p>
            <a:pPr marL="0" indent="0">
              <a:buNone/>
            </a:pPr>
            <a:r>
              <a:rPr lang="en-US" sz="3300" b="1" dirty="0">
                <a:solidFill>
                  <a:srgbClr val="0D2B6B"/>
                </a:solidFill>
                <a:latin typeface="Cambria" pitchFamily="34" charset="0"/>
                <a:ea typeface="Cambria" pitchFamily="34" charset="-122"/>
                <a:cs typeface="Cambria" pitchFamily="34" charset="-120"/>
              </a:rPr>
              <a:t>Τι κάνει η πλατφόρμα</a:t>
            </a:r>
            <a:endParaRPr lang="en-US" sz="3300" dirty="0"/>
          </a:p>
        </p:txBody>
      </p:sp>
      <p:sp>
        <p:nvSpPr>
          <p:cNvPr id="4" name="Text 2"/>
          <p:cNvSpPr/>
          <p:nvPr/>
        </p:nvSpPr>
        <p:spPr>
          <a:xfrm>
            <a:off x="777240" y="6437376"/>
            <a:ext cx="6400800" cy="274320"/>
          </a:xfrm>
          <a:prstGeom prst="rect">
            <a:avLst/>
          </a:prstGeom>
          <a:noFill/>
          <a:ln/>
        </p:spPr>
        <p:txBody>
          <a:bodyPr wrap="square" rtlCol="0" anchor="ctr"/>
          <a:lstStyle/>
          <a:p>
            <a:pPr marL="0" indent="0">
              <a:buNone/>
            </a:pPr>
            <a:r>
              <a:rPr lang="en-US" sz="950" dirty="0">
                <a:solidFill>
                  <a:srgbClr val="74809A"/>
                </a:solidFill>
                <a:latin typeface="Calibri" pitchFamily="34" charset="0"/>
                <a:ea typeface="Calibri" pitchFamily="34" charset="-122"/>
                <a:cs typeface="Calibri" pitchFamily="34" charset="-120"/>
              </a:rPr>
              <a:t>UoWM Library — Τεχνολογία Λογισμικού</a:t>
            </a:r>
            <a:endParaRPr lang="en-US" sz="950" dirty="0"/>
          </a:p>
        </p:txBody>
      </p:sp>
      <p:sp>
        <p:nvSpPr>
          <p:cNvPr id="5" name="Text 3"/>
          <p:cNvSpPr/>
          <p:nvPr/>
        </p:nvSpPr>
        <p:spPr>
          <a:xfrm>
            <a:off x="10972800" y="6437376"/>
            <a:ext cx="457200" cy="274320"/>
          </a:xfrm>
          <a:prstGeom prst="rect">
            <a:avLst/>
          </a:prstGeom>
          <a:noFill/>
          <a:ln/>
        </p:spPr>
        <p:txBody>
          <a:bodyPr wrap="square" rtlCol="0" anchor="ctr"/>
          <a:lstStyle/>
          <a:p>
            <a:pPr marL="0" indent="0" algn="r">
              <a:buNone/>
            </a:pPr>
            <a:r>
              <a:rPr lang="en-US" sz="950" dirty="0">
                <a:solidFill>
                  <a:srgbClr val="74809A"/>
                </a:solidFill>
                <a:latin typeface="Calibri" pitchFamily="34" charset="0"/>
                <a:ea typeface="Calibri" pitchFamily="34" charset="-122"/>
                <a:cs typeface="Calibri" pitchFamily="34" charset="-120"/>
              </a:rPr>
              <a:t>6</a:t>
            </a:r>
            <a:endParaRPr lang="en-US" sz="950" dirty="0"/>
          </a:p>
        </p:txBody>
      </p:sp>
      <p:sp>
        <p:nvSpPr>
          <p:cNvPr id="6" name="Shape 4"/>
          <p:cNvSpPr/>
          <p:nvPr/>
        </p:nvSpPr>
        <p:spPr>
          <a:xfrm>
            <a:off x="777240" y="1874520"/>
            <a:ext cx="3383280" cy="1874520"/>
          </a:xfrm>
          <a:prstGeom prst="roundRect">
            <a:avLst>
              <a:gd name="adj" fmla="val 439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7" name="Shape 5"/>
          <p:cNvSpPr/>
          <p:nvPr/>
        </p:nvSpPr>
        <p:spPr>
          <a:xfrm>
            <a:off x="1033272" y="2148840"/>
            <a:ext cx="658368" cy="658368"/>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8" name="Image 0" descr="preencoded.png"/>
          <p:cNvPicPr>
            <a:picLocks noChangeAspect="1"/>
          </p:cNvPicPr>
          <p:nvPr/>
        </p:nvPicPr>
        <p:blipFill>
          <a:blip r:embed="rId3"/>
          <a:stretch>
            <a:fillRect/>
          </a:stretch>
        </p:blipFill>
        <p:spPr>
          <a:xfrm>
            <a:off x="1211031" y="2326599"/>
            <a:ext cx="302849" cy="302849"/>
          </a:xfrm>
          <a:prstGeom prst="rect">
            <a:avLst/>
          </a:prstGeom>
        </p:spPr>
      </p:pic>
      <p:sp>
        <p:nvSpPr>
          <p:cNvPr id="9" name="Text 6"/>
          <p:cNvSpPr/>
          <p:nvPr/>
        </p:nvSpPr>
        <p:spPr>
          <a:xfrm>
            <a:off x="1801368" y="2185416"/>
            <a:ext cx="2286000" cy="548640"/>
          </a:xfrm>
          <a:prstGeom prst="rect">
            <a:avLst/>
          </a:prstGeom>
          <a:noFill/>
          <a:ln/>
        </p:spPr>
        <p:txBody>
          <a:bodyPr wrap="square" rtlCol="0" anchor="ctr"/>
          <a:lstStyle/>
          <a:p>
            <a:pPr marL="0" indent="0">
              <a:buNone/>
            </a:pPr>
            <a:r>
              <a:rPr lang="en-US" sz="1550" b="1" dirty="0">
                <a:solidFill>
                  <a:srgbClr val="0D2B6B"/>
                </a:solidFill>
                <a:latin typeface="Calibri" pitchFamily="34" charset="0"/>
                <a:ea typeface="Calibri" pitchFamily="34" charset="-122"/>
                <a:cs typeface="Calibri" pitchFamily="34" charset="-120"/>
              </a:rPr>
              <a:t>Πλήρης διγλωσσία</a:t>
            </a:r>
            <a:endParaRPr lang="en-US" sz="1550" dirty="0"/>
          </a:p>
        </p:txBody>
      </p:sp>
      <p:sp>
        <p:nvSpPr>
          <p:cNvPr id="10" name="Text 7"/>
          <p:cNvSpPr/>
          <p:nvPr/>
        </p:nvSpPr>
        <p:spPr>
          <a:xfrm>
            <a:off x="1033272" y="2926080"/>
            <a:ext cx="2926080" cy="731520"/>
          </a:xfrm>
          <a:prstGeom prst="rect">
            <a:avLst/>
          </a:prstGeom>
          <a:noFill/>
          <a:ln/>
        </p:spPr>
        <p:txBody>
          <a:bodyPr wrap="square" rtlCol="0" anchor="ctr"/>
          <a:lstStyle/>
          <a:p>
            <a:pPr marL="0" indent="0">
              <a:lnSpc>
                <a:spcPct val="105000"/>
              </a:lnSpc>
              <a:buNone/>
            </a:pPr>
            <a:r>
              <a:rPr lang="en-US" sz="1250" dirty="0">
                <a:solidFill>
                  <a:srgbClr val="35415C"/>
                </a:solidFill>
                <a:latin typeface="Calibri" pitchFamily="34" charset="0"/>
                <a:ea typeface="Calibri" pitchFamily="34" charset="-122"/>
                <a:cs typeface="Calibri" pitchFamily="34" charset="-120"/>
              </a:rPr>
              <a:t>EL/EN σε επίπεδο δεδομένων (μοντέλο BiText)</a:t>
            </a:r>
            <a:endParaRPr lang="en-US" sz="1250" dirty="0"/>
          </a:p>
        </p:txBody>
      </p:sp>
      <p:sp>
        <p:nvSpPr>
          <p:cNvPr id="11" name="Shape 8"/>
          <p:cNvSpPr/>
          <p:nvPr/>
        </p:nvSpPr>
        <p:spPr>
          <a:xfrm>
            <a:off x="4434840" y="1874520"/>
            <a:ext cx="3383280" cy="1874520"/>
          </a:xfrm>
          <a:prstGeom prst="roundRect">
            <a:avLst>
              <a:gd name="adj" fmla="val 439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12" name="Shape 9"/>
          <p:cNvSpPr/>
          <p:nvPr/>
        </p:nvSpPr>
        <p:spPr>
          <a:xfrm>
            <a:off x="4690872" y="2148840"/>
            <a:ext cx="658368" cy="658368"/>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13" name="Image 1" descr="preencoded.png"/>
          <p:cNvPicPr>
            <a:picLocks noChangeAspect="1"/>
          </p:cNvPicPr>
          <p:nvPr/>
        </p:nvPicPr>
        <p:blipFill>
          <a:blip r:embed="rId4"/>
          <a:stretch>
            <a:fillRect/>
          </a:stretch>
        </p:blipFill>
        <p:spPr>
          <a:xfrm>
            <a:off x="4868631" y="2326599"/>
            <a:ext cx="302849" cy="302849"/>
          </a:xfrm>
          <a:prstGeom prst="rect">
            <a:avLst/>
          </a:prstGeom>
        </p:spPr>
      </p:pic>
      <p:sp>
        <p:nvSpPr>
          <p:cNvPr id="14" name="Text 10"/>
          <p:cNvSpPr/>
          <p:nvPr/>
        </p:nvSpPr>
        <p:spPr>
          <a:xfrm>
            <a:off x="5458968" y="2185416"/>
            <a:ext cx="2286000" cy="548640"/>
          </a:xfrm>
          <a:prstGeom prst="rect">
            <a:avLst/>
          </a:prstGeom>
          <a:noFill/>
          <a:ln/>
        </p:spPr>
        <p:txBody>
          <a:bodyPr wrap="square" rtlCol="0" anchor="ctr"/>
          <a:lstStyle/>
          <a:p>
            <a:pPr marL="0" indent="0">
              <a:buNone/>
            </a:pPr>
            <a:r>
              <a:rPr lang="en-US" sz="1550" b="1" dirty="0">
                <a:solidFill>
                  <a:srgbClr val="0D2B6B"/>
                </a:solidFill>
                <a:latin typeface="Calibri" pitchFamily="34" charset="0"/>
                <a:ea typeface="Calibri" pitchFamily="34" charset="-122"/>
                <a:cs typeface="Calibri" pitchFamily="34" charset="-120"/>
              </a:rPr>
              <a:t>Dark / Light mode</a:t>
            </a:r>
            <a:endParaRPr lang="en-US" sz="1550" dirty="0"/>
          </a:p>
        </p:txBody>
      </p:sp>
      <p:sp>
        <p:nvSpPr>
          <p:cNvPr id="15" name="Text 11"/>
          <p:cNvSpPr/>
          <p:nvPr/>
        </p:nvSpPr>
        <p:spPr>
          <a:xfrm>
            <a:off x="4690872" y="2926080"/>
            <a:ext cx="2926080" cy="731520"/>
          </a:xfrm>
          <a:prstGeom prst="rect">
            <a:avLst/>
          </a:prstGeom>
          <a:noFill/>
          <a:ln/>
        </p:spPr>
        <p:txBody>
          <a:bodyPr wrap="square" rtlCol="0" anchor="ctr"/>
          <a:lstStyle/>
          <a:p>
            <a:pPr marL="0" indent="0">
              <a:lnSpc>
                <a:spcPct val="105000"/>
              </a:lnSpc>
              <a:buNone/>
            </a:pPr>
            <a:r>
              <a:rPr lang="en-US" sz="1250" dirty="0">
                <a:solidFill>
                  <a:srgbClr val="35415C"/>
                </a:solidFill>
                <a:latin typeface="Calibri" pitchFamily="34" charset="0"/>
                <a:ea typeface="Calibri" pitchFamily="34" charset="-122"/>
                <a:cs typeface="Calibri" pitchFamily="34" charset="-120"/>
              </a:rPr>
              <a:t>Εναλλαγή θέματος με παλέτα ΠΔΜ (navy/χρυσό)</a:t>
            </a:r>
            <a:endParaRPr lang="en-US" sz="1250" dirty="0"/>
          </a:p>
        </p:txBody>
      </p:sp>
      <p:sp>
        <p:nvSpPr>
          <p:cNvPr id="16" name="Shape 12"/>
          <p:cNvSpPr/>
          <p:nvPr/>
        </p:nvSpPr>
        <p:spPr>
          <a:xfrm>
            <a:off x="8092440" y="1874520"/>
            <a:ext cx="3383280" cy="1874520"/>
          </a:xfrm>
          <a:prstGeom prst="roundRect">
            <a:avLst>
              <a:gd name="adj" fmla="val 439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17" name="Shape 13"/>
          <p:cNvSpPr/>
          <p:nvPr/>
        </p:nvSpPr>
        <p:spPr>
          <a:xfrm>
            <a:off x="8348472" y="2148840"/>
            <a:ext cx="658368" cy="658368"/>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18" name="Image 2" descr="preencoded.png"/>
          <p:cNvPicPr>
            <a:picLocks noChangeAspect="1"/>
          </p:cNvPicPr>
          <p:nvPr/>
        </p:nvPicPr>
        <p:blipFill>
          <a:blip r:embed="rId5"/>
          <a:stretch>
            <a:fillRect/>
          </a:stretch>
        </p:blipFill>
        <p:spPr>
          <a:xfrm>
            <a:off x="8526231" y="2326599"/>
            <a:ext cx="302849" cy="302849"/>
          </a:xfrm>
          <a:prstGeom prst="rect">
            <a:avLst/>
          </a:prstGeom>
        </p:spPr>
      </p:pic>
      <p:sp>
        <p:nvSpPr>
          <p:cNvPr id="19" name="Text 14"/>
          <p:cNvSpPr/>
          <p:nvPr/>
        </p:nvSpPr>
        <p:spPr>
          <a:xfrm>
            <a:off x="9116568" y="2185416"/>
            <a:ext cx="2286000" cy="548640"/>
          </a:xfrm>
          <a:prstGeom prst="rect">
            <a:avLst/>
          </a:prstGeom>
          <a:noFill/>
          <a:ln/>
        </p:spPr>
        <p:txBody>
          <a:bodyPr wrap="square" rtlCol="0" anchor="ctr"/>
          <a:lstStyle/>
          <a:p>
            <a:pPr marL="0" indent="0">
              <a:buNone/>
            </a:pPr>
            <a:r>
              <a:rPr lang="en-US" sz="1550" b="1" dirty="0">
                <a:solidFill>
                  <a:srgbClr val="0D2B6B"/>
                </a:solidFill>
                <a:latin typeface="Calibri" pitchFamily="34" charset="0"/>
                <a:ea typeface="Calibri" pitchFamily="34" charset="-122"/>
                <a:cs typeface="Calibri" pitchFamily="34" charset="-120"/>
              </a:rPr>
              <a:t>Live chat</a:t>
            </a:r>
            <a:endParaRPr lang="en-US" sz="1550" dirty="0"/>
          </a:p>
        </p:txBody>
      </p:sp>
      <p:sp>
        <p:nvSpPr>
          <p:cNvPr id="20" name="Text 15"/>
          <p:cNvSpPr/>
          <p:nvPr/>
        </p:nvSpPr>
        <p:spPr>
          <a:xfrm>
            <a:off x="8348472" y="2926080"/>
            <a:ext cx="2926080" cy="731520"/>
          </a:xfrm>
          <a:prstGeom prst="rect">
            <a:avLst/>
          </a:prstGeom>
          <a:noFill/>
          <a:ln/>
        </p:spPr>
        <p:txBody>
          <a:bodyPr wrap="square" rtlCol="0" anchor="ctr"/>
          <a:lstStyle/>
          <a:p>
            <a:pPr marL="0" indent="0">
              <a:lnSpc>
                <a:spcPct val="105000"/>
              </a:lnSpc>
              <a:buNone/>
            </a:pPr>
            <a:r>
              <a:rPr lang="en-US" sz="1250" dirty="0">
                <a:solidFill>
                  <a:srgbClr val="35415C"/>
                </a:solidFill>
                <a:latin typeface="Calibri" pitchFamily="34" charset="0"/>
                <a:ea typeface="Calibri" pitchFamily="34" charset="-122"/>
                <a:cs typeface="Calibri" pitchFamily="34" charset="-120"/>
              </a:rPr>
              <a:t>Επισκέπτης ↔ προσωπικό μέσω WebSocket</a:t>
            </a:r>
            <a:endParaRPr lang="en-US" sz="1250" dirty="0"/>
          </a:p>
        </p:txBody>
      </p:sp>
      <p:sp>
        <p:nvSpPr>
          <p:cNvPr id="21" name="Shape 16"/>
          <p:cNvSpPr/>
          <p:nvPr/>
        </p:nvSpPr>
        <p:spPr>
          <a:xfrm>
            <a:off x="777240" y="3977640"/>
            <a:ext cx="3383280" cy="1874520"/>
          </a:xfrm>
          <a:prstGeom prst="roundRect">
            <a:avLst>
              <a:gd name="adj" fmla="val 439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22" name="Shape 17"/>
          <p:cNvSpPr/>
          <p:nvPr/>
        </p:nvSpPr>
        <p:spPr>
          <a:xfrm>
            <a:off x="1033272" y="4251960"/>
            <a:ext cx="658368" cy="658368"/>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23" name="Image 3" descr="preencoded.png"/>
          <p:cNvPicPr>
            <a:picLocks noChangeAspect="1"/>
          </p:cNvPicPr>
          <p:nvPr/>
        </p:nvPicPr>
        <p:blipFill>
          <a:blip r:embed="rId6"/>
          <a:stretch>
            <a:fillRect/>
          </a:stretch>
        </p:blipFill>
        <p:spPr>
          <a:xfrm>
            <a:off x="1211031" y="4429719"/>
            <a:ext cx="302849" cy="302849"/>
          </a:xfrm>
          <a:prstGeom prst="rect">
            <a:avLst/>
          </a:prstGeom>
        </p:spPr>
      </p:pic>
      <p:sp>
        <p:nvSpPr>
          <p:cNvPr id="24" name="Text 18"/>
          <p:cNvSpPr/>
          <p:nvPr/>
        </p:nvSpPr>
        <p:spPr>
          <a:xfrm>
            <a:off x="1801368" y="4288536"/>
            <a:ext cx="2286000" cy="548640"/>
          </a:xfrm>
          <a:prstGeom prst="rect">
            <a:avLst/>
          </a:prstGeom>
          <a:noFill/>
          <a:ln/>
        </p:spPr>
        <p:txBody>
          <a:bodyPr wrap="square" rtlCol="0" anchor="ctr"/>
          <a:lstStyle/>
          <a:p>
            <a:pPr marL="0" indent="0">
              <a:buNone/>
            </a:pPr>
            <a:r>
              <a:rPr lang="en-US" sz="1550" b="1" dirty="0">
                <a:solidFill>
                  <a:srgbClr val="0D2B6B"/>
                </a:solidFill>
                <a:latin typeface="Calibri" pitchFamily="34" charset="0"/>
                <a:ea typeface="Calibri" pitchFamily="34" charset="-122"/>
                <a:cs typeface="Calibri" pitchFamily="34" charset="-120"/>
              </a:rPr>
              <a:t>CMS — 17 οθόνες</a:t>
            </a:r>
            <a:endParaRPr lang="en-US" sz="1550" dirty="0"/>
          </a:p>
        </p:txBody>
      </p:sp>
      <p:sp>
        <p:nvSpPr>
          <p:cNvPr id="25" name="Text 19"/>
          <p:cNvSpPr/>
          <p:nvPr/>
        </p:nvSpPr>
        <p:spPr>
          <a:xfrm>
            <a:off x="1033272" y="5029200"/>
            <a:ext cx="2926080" cy="731520"/>
          </a:xfrm>
          <a:prstGeom prst="rect">
            <a:avLst/>
          </a:prstGeom>
          <a:noFill/>
          <a:ln/>
        </p:spPr>
        <p:txBody>
          <a:bodyPr wrap="square" rtlCol="0" anchor="ctr"/>
          <a:lstStyle/>
          <a:p>
            <a:pPr marL="0" indent="0">
              <a:lnSpc>
                <a:spcPct val="105000"/>
              </a:lnSpc>
              <a:buNone/>
            </a:pPr>
            <a:r>
              <a:rPr lang="en-US" sz="1250" dirty="0">
                <a:solidFill>
                  <a:srgbClr val="35415C"/>
                </a:solidFill>
                <a:latin typeface="Calibri" pitchFamily="34" charset="0"/>
                <a:ea typeface="Calibri" pitchFamily="34" charset="-122"/>
                <a:cs typeface="Calibri" pitchFamily="34" charset="-120"/>
              </a:rPr>
              <a:t>Ανακοινώσεις, παραρτήματα, υπηρεσίες, συλλογές…</a:t>
            </a:r>
            <a:endParaRPr lang="en-US" sz="1250" dirty="0"/>
          </a:p>
        </p:txBody>
      </p:sp>
      <p:sp>
        <p:nvSpPr>
          <p:cNvPr id="26" name="Shape 20"/>
          <p:cNvSpPr/>
          <p:nvPr/>
        </p:nvSpPr>
        <p:spPr>
          <a:xfrm>
            <a:off x="4434840" y="3977640"/>
            <a:ext cx="3383280" cy="1874520"/>
          </a:xfrm>
          <a:prstGeom prst="roundRect">
            <a:avLst>
              <a:gd name="adj" fmla="val 439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27" name="Shape 21"/>
          <p:cNvSpPr/>
          <p:nvPr/>
        </p:nvSpPr>
        <p:spPr>
          <a:xfrm>
            <a:off x="4690872" y="4251960"/>
            <a:ext cx="658368" cy="658368"/>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28" name="Image 4" descr="preencoded.png"/>
          <p:cNvPicPr>
            <a:picLocks noChangeAspect="1"/>
          </p:cNvPicPr>
          <p:nvPr/>
        </p:nvPicPr>
        <p:blipFill>
          <a:blip r:embed="rId7"/>
          <a:stretch>
            <a:fillRect/>
          </a:stretch>
        </p:blipFill>
        <p:spPr>
          <a:xfrm>
            <a:off x="4868631" y="4429719"/>
            <a:ext cx="302849" cy="302849"/>
          </a:xfrm>
          <a:prstGeom prst="rect">
            <a:avLst/>
          </a:prstGeom>
        </p:spPr>
      </p:pic>
      <p:sp>
        <p:nvSpPr>
          <p:cNvPr id="29" name="Text 22"/>
          <p:cNvSpPr/>
          <p:nvPr/>
        </p:nvSpPr>
        <p:spPr>
          <a:xfrm>
            <a:off x="5458968" y="4288536"/>
            <a:ext cx="2286000" cy="548640"/>
          </a:xfrm>
          <a:prstGeom prst="rect">
            <a:avLst/>
          </a:prstGeom>
          <a:noFill/>
          <a:ln/>
        </p:spPr>
        <p:txBody>
          <a:bodyPr wrap="square" rtlCol="0" anchor="ctr"/>
          <a:lstStyle/>
          <a:p>
            <a:pPr marL="0" indent="0">
              <a:buNone/>
            </a:pPr>
            <a:r>
              <a:rPr lang="en-US" sz="1550" b="1" dirty="0">
                <a:solidFill>
                  <a:srgbClr val="0D2B6B"/>
                </a:solidFill>
                <a:latin typeface="Calibri" pitchFamily="34" charset="0"/>
                <a:ea typeface="Calibri" pitchFamily="34" charset="-122"/>
                <a:cs typeface="Calibri" pitchFamily="34" charset="-120"/>
              </a:rPr>
              <a:t>Σελιδοποίηση</a:t>
            </a:r>
            <a:endParaRPr lang="en-US" sz="1550" dirty="0"/>
          </a:p>
        </p:txBody>
      </p:sp>
      <p:sp>
        <p:nvSpPr>
          <p:cNvPr id="30" name="Text 23"/>
          <p:cNvSpPr/>
          <p:nvPr/>
        </p:nvSpPr>
        <p:spPr>
          <a:xfrm>
            <a:off x="4690872" y="5029200"/>
            <a:ext cx="2926080" cy="731520"/>
          </a:xfrm>
          <a:prstGeom prst="rect">
            <a:avLst/>
          </a:prstGeom>
          <a:noFill/>
          <a:ln/>
        </p:spPr>
        <p:txBody>
          <a:bodyPr wrap="square" rtlCol="0" anchor="ctr"/>
          <a:lstStyle/>
          <a:p>
            <a:pPr marL="0" indent="0">
              <a:lnSpc>
                <a:spcPct val="105000"/>
              </a:lnSpc>
              <a:buNone/>
            </a:pPr>
            <a:r>
              <a:rPr lang="en-US" sz="1250" dirty="0">
                <a:solidFill>
                  <a:srgbClr val="35415C"/>
                </a:solidFill>
                <a:latin typeface="Calibri" pitchFamily="34" charset="0"/>
                <a:ea typeface="Calibri" pitchFamily="34" charset="-122"/>
                <a:cs typeface="Calibri" pitchFamily="34" charset="-120"/>
              </a:rPr>
              <a:t>Ανακοινώσεις με pagination</a:t>
            </a:r>
            <a:endParaRPr lang="en-US" sz="1250" dirty="0"/>
          </a:p>
        </p:txBody>
      </p:sp>
      <p:sp>
        <p:nvSpPr>
          <p:cNvPr id="31" name="Shape 24"/>
          <p:cNvSpPr/>
          <p:nvPr/>
        </p:nvSpPr>
        <p:spPr>
          <a:xfrm>
            <a:off x="8092440" y="3977640"/>
            <a:ext cx="3383280" cy="1874520"/>
          </a:xfrm>
          <a:prstGeom prst="roundRect">
            <a:avLst>
              <a:gd name="adj" fmla="val 4390"/>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32" name="Shape 25"/>
          <p:cNvSpPr/>
          <p:nvPr/>
        </p:nvSpPr>
        <p:spPr>
          <a:xfrm>
            <a:off x="8348472" y="4251960"/>
            <a:ext cx="658368" cy="658368"/>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33" name="Image 5" descr="preencoded.png"/>
          <p:cNvPicPr>
            <a:picLocks noChangeAspect="1"/>
          </p:cNvPicPr>
          <p:nvPr/>
        </p:nvPicPr>
        <p:blipFill>
          <a:blip r:embed="rId8"/>
          <a:stretch>
            <a:fillRect/>
          </a:stretch>
        </p:blipFill>
        <p:spPr>
          <a:xfrm>
            <a:off x="8526231" y="4429719"/>
            <a:ext cx="302849" cy="302849"/>
          </a:xfrm>
          <a:prstGeom prst="rect">
            <a:avLst/>
          </a:prstGeom>
        </p:spPr>
      </p:pic>
      <p:sp>
        <p:nvSpPr>
          <p:cNvPr id="34" name="Text 26"/>
          <p:cNvSpPr/>
          <p:nvPr/>
        </p:nvSpPr>
        <p:spPr>
          <a:xfrm>
            <a:off x="9116568" y="4288536"/>
            <a:ext cx="2286000" cy="548640"/>
          </a:xfrm>
          <a:prstGeom prst="rect">
            <a:avLst/>
          </a:prstGeom>
          <a:noFill/>
          <a:ln/>
        </p:spPr>
        <p:txBody>
          <a:bodyPr wrap="square" rtlCol="0" anchor="ctr"/>
          <a:lstStyle/>
          <a:p>
            <a:pPr marL="0" indent="0">
              <a:buNone/>
            </a:pPr>
            <a:r>
              <a:rPr lang="en-US" sz="1550" b="1" dirty="0">
                <a:solidFill>
                  <a:srgbClr val="0D2B6B"/>
                </a:solidFill>
                <a:latin typeface="Calibri" pitchFamily="34" charset="0"/>
                <a:ea typeface="Calibri" pitchFamily="34" charset="-122"/>
                <a:cs typeface="Calibri" pitchFamily="34" charset="-120"/>
              </a:rPr>
              <a:t>Media upload</a:t>
            </a:r>
            <a:endParaRPr lang="en-US" sz="1550" dirty="0"/>
          </a:p>
        </p:txBody>
      </p:sp>
      <p:sp>
        <p:nvSpPr>
          <p:cNvPr id="35" name="Text 27"/>
          <p:cNvSpPr/>
          <p:nvPr/>
        </p:nvSpPr>
        <p:spPr>
          <a:xfrm>
            <a:off x="8348472" y="5029200"/>
            <a:ext cx="2926080" cy="731520"/>
          </a:xfrm>
          <a:prstGeom prst="rect">
            <a:avLst/>
          </a:prstGeom>
          <a:noFill/>
          <a:ln/>
        </p:spPr>
        <p:txBody>
          <a:bodyPr wrap="square" rtlCol="0" anchor="ctr"/>
          <a:lstStyle/>
          <a:p>
            <a:pPr marL="0" indent="0">
              <a:lnSpc>
                <a:spcPct val="105000"/>
              </a:lnSpc>
              <a:buNone/>
            </a:pPr>
            <a:r>
              <a:rPr lang="en-US" sz="1250" dirty="0">
                <a:solidFill>
                  <a:srgbClr val="35415C"/>
                </a:solidFill>
                <a:latin typeface="Calibri" pitchFamily="34" charset="0"/>
                <a:ea typeface="Calibri" pitchFamily="34" charset="-122"/>
                <a:cs typeface="Calibri" pitchFamily="34" charset="-120"/>
              </a:rPr>
              <a:t>Μεταφόρτωση εικόνων/αρχείων στο Firebase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777240" y="502920"/>
            <a:ext cx="9144000" cy="320040"/>
          </a:xfrm>
          <a:prstGeom prst="rect">
            <a:avLst/>
          </a:prstGeom>
          <a:noFill/>
          <a:ln/>
        </p:spPr>
        <p:txBody>
          <a:bodyPr wrap="square" rtlCol="0" anchor="ctr"/>
          <a:lstStyle/>
          <a:p>
            <a:pPr marL="0" indent="0">
              <a:buNone/>
            </a:pPr>
            <a:r>
              <a:rPr lang="en-US" sz="1300" b="1" kern="0" spc="300" dirty="0">
                <a:solidFill>
                  <a:srgbClr val="D4A017"/>
                </a:solidFill>
                <a:latin typeface="Calibri" pitchFamily="34" charset="0"/>
                <a:ea typeface="Calibri" pitchFamily="34" charset="-122"/>
                <a:cs typeface="Calibri" pitchFamily="34" charset="-120"/>
              </a:rPr>
              <a:t>REAL-TIME</a:t>
            </a:r>
            <a:endParaRPr lang="en-US" sz="1300" dirty="0"/>
          </a:p>
        </p:txBody>
      </p:sp>
      <p:sp>
        <p:nvSpPr>
          <p:cNvPr id="3" name="Text 1"/>
          <p:cNvSpPr/>
          <p:nvPr/>
        </p:nvSpPr>
        <p:spPr>
          <a:xfrm>
            <a:off x="749808" y="768096"/>
            <a:ext cx="10607040" cy="868680"/>
          </a:xfrm>
          <a:prstGeom prst="rect">
            <a:avLst/>
          </a:prstGeom>
          <a:noFill/>
          <a:ln/>
        </p:spPr>
        <p:txBody>
          <a:bodyPr wrap="square" lIns="0" tIns="0" rIns="0" bIns="0" rtlCol="0" anchor="ctr"/>
          <a:lstStyle/>
          <a:p>
            <a:pPr marL="0" indent="0">
              <a:buNone/>
            </a:pPr>
            <a:r>
              <a:rPr lang="en-US" sz="3300" b="1" dirty="0">
                <a:solidFill>
                  <a:srgbClr val="0D2B6B"/>
                </a:solidFill>
                <a:latin typeface="Cambria" pitchFamily="34" charset="0"/>
                <a:ea typeface="Cambria" pitchFamily="34" charset="-122"/>
                <a:cs typeface="Cambria" pitchFamily="34" charset="-120"/>
              </a:rPr>
              <a:t>Live chat με WebSocket</a:t>
            </a:r>
            <a:endParaRPr lang="en-US" sz="3300" dirty="0"/>
          </a:p>
        </p:txBody>
      </p:sp>
      <p:sp>
        <p:nvSpPr>
          <p:cNvPr id="4" name="Text 2"/>
          <p:cNvSpPr/>
          <p:nvPr/>
        </p:nvSpPr>
        <p:spPr>
          <a:xfrm>
            <a:off x="777240" y="6437376"/>
            <a:ext cx="6400800" cy="274320"/>
          </a:xfrm>
          <a:prstGeom prst="rect">
            <a:avLst/>
          </a:prstGeom>
          <a:noFill/>
          <a:ln/>
        </p:spPr>
        <p:txBody>
          <a:bodyPr wrap="square" rtlCol="0" anchor="ctr"/>
          <a:lstStyle/>
          <a:p>
            <a:pPr marL="0" indent="0">
              <a:buNone/>
            </a:pPr>
            <a:r>
              <a:rPr lang="en-US" sz="950" dirty="0">
                <a:solidFill>
                  <a:srgbClr val="74809A"/>
                </a:solidFill>
                <a:latin typeface="Calibri" pitchFamily="34" charset="0"/>
                <a:ea typeface="Calibri" pitchFamily="34" charset="-122"/>
                <a:cs typeface="Calibri" pitchFamily="34" charset="-120"/>
              </a:rPr>
              <a:t>UoWM Library — Τεχνολογία Λογισμικού</a:t>
            </a:r>
            <a:endParaRPr lang="en-US" sz="950" dirty="0"/>
          </a:p>
        </p:txBody>
      </p:sp>
      <p:sp>
        <p:nvSpPr>
          <p:cNvPr id="5" name="Text 3"/>
          <p:cNvSpPr/>
          <p:nvPr/>
        </p:nvSpPr>
        <p:spPr>
          <a:xfrm>
            <a:off x="10972800" y="6437376"/>
            <a:ext cx="457200" cy="274320"/>
          </a:xfrm>
          <a:prstGeom prst="rect">
            <a:avLst/>
          </a:prstGeom>
          <a:noFill/>
          <a:ln/>
        </p:spPr>
        <p:txBody>
          <a:bodyPr wrap="square" rtlCol="0" anchor="ctr"/>
          <a:lstStyle/>
          <a:p>
            <a:pPr marL="0" indent="0" algn="r">
              <a:buNone/>
            </a:pPr>
            <a:r>
              <a:rPr lang="en-US" sz="950" dirty="0">
                <a:solidFill>
                  <a:srgbClr val="74809A"/>
                </a:solidFill>
                <a:latin typeface="Calibri" pitchFamily="34" charset="0"/>
                <a:ea typeface="Calibri" pitchFamily="34" charset="-122"/>
                <a:cs typeface="Calibri" pitchFamily="34" charset="-120"/>
              </a:rPr>
              <a:t>7</a:t>
            </a:r>
            <a:endParaRPr lang="en-US" sz="950" dirty="0"/>
          </a:p>
        </p:txBody>
      </p:sp>
      <p:sp>
        <p:nvSpPr>
          <p:cNvPr id="6" name="Shape 4"/>
          <p:cNvSpPr/>
          <p:nvPr/>
        </p:nvSpPr>
        <p:spPr>
          <a:xfrm>
            <a:off x="777240" y="1783080"/>
            <a:ext cx="7406640" cy="4206240"/>
          </a:xfrm>
          <a:prstGeom prst="roundRect">
            <a:avLst>
              <a:gd name="adj" fmla="val 1957"/>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pic>
        <p:nvPicPr>
          <p:cNvPr id="7" name="Image 0" descr="/home/claude/assets/seq.png"/>
          <p:cNvPicPr>
            <a:picLocks noChangeAspect="1"/>
          </p:cNvPicPr>
          <p:nvPr/>
        </p:nvPicPr>
        <p:blipFill>
          <a:blip r:embed="rId3"/>
          <a:srcRect/>
          <a:stretch/>
        </p:blipFill>
        <p:spPr>
          <a:xfrm>
            <a:off x="960120" y="1965960"/>
            <a:ext cx="7040880" cy="3840480"/>
          </a:xfrm>
          <a:prstGeom prst="rect">
            <a:avLst/>
          </a:prstGeom>
        </p:spPr>
      </p:pic>
      <p:sp>
        <p:nvSpPr>
          <p:cNvPr id="8" name="Text 5"/>
          <p:cNvSpPr/>
          <p:nvPr/>
        </p:nvSpPr>
        <p:spPr>
          <a:xfrm>
            <a:off x="8458200" y="1920240"/>
            <a:ext cx="2926080" cy="365760"/>
          </a:xfrm>
          <a:prstGeom prst="rect">
            <a:avLst/>
          </a:prstGeom>
          <a:noFill/>
          <a:ln/>
        </p:spPr>
        <p:txBody>
          <a:bodyPr wrap="square" rtlCol="0" anchor="ctr"/>
          <a:lstStyle/>
          <a:p>
            <a:pPr marL="0" indent="0">
              <a:buNone/>
            </a:pPr>
            <a:r>
              <a:rPr lang="en-US" sz="1600" b="1" dirty="0">
                <a:solidFill>
                  <a:srgbClr val="0D2B6B"/>
                </a:solidFill>
                <a:latin typeface="Calibri" pitchFamily="34" charset="0"/>
                <a:ea typeface="Calibri" pitchFamily="34" charset="-122"/>
                <a:cs typeface="Calibri" pitchFamily="34" charset="-120"/>
              </a:rPr>
              <a:t>Ροή μηνυμάτων</a:t>
            </a:r>
            <a:endParaRPr lang="en-US" sz="1600" dirty="0"/>
          </a:p>
        </p:txBody>
      </p:sp>
      <p:sp>
        <p:nvSpPr>
          <p:cNvPr id="9" name="Text 6"/>
          <p:cNvSpPr/>
          <p:nvPr/>
        </p:nvSpPr>
        <p:spPr>
          <a:xfrm>
            <a:off x="8458200" y="2423160"/>
            <a:ext cx="2971800" cy="2743200"/>
          </a:xfrm>
          <a:prstGeom prst="rect">
            <a:avLst/>
          </a:prstGeom>
          <a:noFill/>
          <a:ln/>
        </p:spPr>
        <p:txBody>
          <a:bodyPr wrap="square" rtlCol="0" anchor="ctr"/>
          <a:lstStyle/>
          <a:p>
            <a:pPr marL="342900" indent="-342900">
              <a:lnSpc>
                <a:spcPct val="102000"/>
              </a:lnSpc>
              <a:spcAft>
                <a:spcPts val="800"/>
              </a:spcAft>
              <a:buSzPct val="100000"/>
              <a:buChar char="•"/>
            </a:pPr>
            <a:r>
              <a:rPr lang="en-US" sz="1350" dirty="0">
                <a:solidFill>
                  <a:srgbClr val="35415C"/>
                </a:solidFill>
                <a:latin typeface="Calibri" pitchFamily="34" charset="0"/>
                <a:ea typeface="Calibri" pitchFamily="34" charset="-122"/>
                <a:cs typeface="Calibri" pitchFamily="34" charset="-120"/>
              </a:rPr>
              <a:t>Ο επισκέπτης ξεκινά συνεδρία (session)</a:t>
            </a:r>
            <a:endParaRPr lang="en-US" sz="1350" dirty="0"/>
          </a:p>
          <a:p>
            <a:pPr marL="342900" indent="-342900">
              <a:lnSpc>
                <a:spcPct val="102000"/>
              </a:lnSpc>
              <a:spcAft>
                <a:spcPts val="800"/>
              </a:spcAft>
              <a:buSzPct val="100000"/>
              <a:buChar char="•"/>
            </a:pPr>
            <a:r>
              <a:rPr lang="en-US" sz="1350" dirty="0">
                <a:solidFill>
                  <a:srgbClr val="35415C"/>
                </a:solidFill>
                <a:latin typeface="Calibri" pitchFamily="34" charset="0"/>
                <a:ea typeface="Calibri" pitchFamily="34" charset="-122"/>
                <a:cs typeface="Calibri" pitchFamily="34" charset="-120"/>
              </a:rPr>
              <a:t>Σύνδεση μέσω WebSocket &amp; αποστολή μηνύματος</a:t>
            </a:r>
            <a:endParaRPr lang="en-US" sz="1350" dirty="0"/>
          </a:p>
          <a:p>
            <a:pPr marL="342900" indent="-342900">
              <a:lnSpc>
                <a:spcPct val="102000"/>
              </a:lnSpc>
              <a:spcAft>
                <a:spcPts val="800"/>
              </a:spcAft>
              <a:buSzPct val="100000"/>
              <a:buChar char="•"/>
            </a:pPr>
            <a:r>
              <a:rPr lang="en-US" sz="1350" dirty="0">
                <a:solidFill>
                  <a:srgbClr val="35415C"/>
                </a:solidFill>
                <a:latin typeface="Calibri" pitchFamily="34" charset="0"/>
                <a:ea typeface="Calibri" pitchFamily="34" charset="-122"/>
                <a:cs typeface="Calibri" pitchFamily="34" charset="-120"/>
              </a:rPr>
              <a:t>Το backend αποθηκεύει στη MongoDB</a:t>
            </a:r>
            <a:endParaRPr lang="en-US" sz="1350" dirty="0"/>
          </a:p>
          <a:p>
            <a:pPr marL="342900" indent="-342900">
              <a:lnSpc>
                <a:spcPct val="102000"/>
              </a:lnSpc>
              <a:spcAft>
                <a:spcPts val="800"/>
              </a:spcAft>
              <a:buSzPct val="100000"/>
              <a:buChar char="•"/>
            </a:pPr>
            <a:r>
              <a:rPr lang="en-US" sz="1350" dirty="0">
                <a:solidFill>
                  <a:srgbClr val="35415C"/>
                </a:solidFill>
                <a:latin typeface="Calibri" pitchFamily="34" charset="0"/>
                <a:ea typeface="Calibri" pitchFamily="34" charset="-122"/>
                <a:cs typeface="Calibri" pitchFamily="34" charset="-120"/>
              </a:rPr>
              <a:t>Broadcast στον διαχειριστή (admin WS)</a:t>
            </a:r>
            <a:endParaRPr lang="en-US" sz="1350" dirty="0"/>
          </a:p>
          <a:p>
            <a:pPr marL="342900" indent="-342900">
              <a:lnSpc>
                <a:spcPct val="102000"/>
              </a:lnSpc>
              <a:spcAft>
                <a:spcPts val="800"/>
              </a:spcAft>
              <a:buSzPct val="100000"/>
              <a:buChar char="•"/>
            </a:pPr>
            <a:r>
              <a:rPr lang="en-US" sz="1350" dirty="0">
                <a:solidFill>
                  <a:srgbClr val="35415C"/>
                </a:solidFill>
                <a:latin typeface="Calibri" pitchFamily="34" charset="0"/>
                <a:ea typeface="Calibri" pitchFamily="34" charset="-122"/>
                <a:cs typeface="Calibri" pitchFamily="34" charset="-120"/>
              </a:rPr>
              <a:t>Η απάντηση επιστρέφει στον επισκέπτη</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777240" y="502920"/>
            <a:ext cx="9144000" cy="320040"/>
          </a:xfrm>
          <a:prstGeom prst="rect">
            <a:avLst/>
          </a:prstGeom>
          <a:noFill/>
          <a:ln/>
        </p:spPr>
        <p:txBody>
          <a:bodyPr wrap="square" rtlCol="0" anchor="ctr"/>
          <a:lstStyle/>
          <a:p>
            <a:pPr marL="0" indent="0">
              <a:buNone/>
            </a:pPr>
            <a:r>
              <a:rPr lang="en-US" sz="1300" b="1" kern="0" spc="300" dirty="0">
                <a:solidFill>
                  <a:srgbClr val="D4A017"/>
                </a:solidFill>
                <a:latin typeface="Calibri" pitchFamily="34" charset="0"/>
                <a:ea typeface="Calibri" pitchFamily="34" charset="-122"/>
                <a:cs typeface="Calibri" pitchFamily="34" charset="-120"/>
              </a:rPr>
              <a:t>ΑΠΑΙΤΗΣΕΙΣ</a:t>
            </a:r>
            <a:endParaRPr lang="en-US" sz="1300" dirty="0"/>
          </a:p>
        </p:txBody>
      </p:sp>
      <p:sp>
        <p:nvSpPr>
          <p:cNvPr id="3" name="Text 1"/>
          <p:cNvSpPr/>
          <p:nvPr/>
        </p:nvSpPr>
        <p:spPr>
          <a:xfrm>
            <a:off x="749808" y="768096"/>
            <a:ext cx="10607040" cy="868680"/>
          </a:xfrm>
          <a:prstGeom prst="rect">
            <a:avLst/>
          </a:prstGeom>
          <a:noFill/>
          <a:ln/>
        </p:spPr>
        <p:txBody>
          <a:bodyPr wrap="square" lIns="0" tIns="0" rIns="0" bIns="0" rtlCol="0" anchor="ctr"/>
          <a:lstStyle/>
          <a:p>
            <a:pPr marL="0" indent="0">
              <a:buNone/>
            </a:pPr>
            <a:r>
              <a:rPr lang="en-US" sz="3300" b="1" dirty="0">
                <a:solidFill>
                  <a:srgbClr val="0D2B6B"/>
                </a:solidFill>
                <a:latin typeface="Cambria" pitchFamily="34" charset="0"/>
                <a:ea typeface="Cambria" pitchFamily="34" charset="-122"/>
                <a:cs typeface="Cambria" pitchFamily="34" charset="-120"/>
              </a:rPr>
              <a:t>Περιπτώσεις χρήσης</a:t>
            </a:r>
            <a:endParaRPr lang="en-US" sz="3300" dirty="0"/>
          </a:p>
        </p:txBody>
      </p:sp>
      <p:sp>
        <p:nvSpPr>
          <p:cNvPr id="4" name="Text 2"/>
          <p:cNvSpPr/>
          <p:nvPr/>
        </p:nvSpPr>
        <p:spPr>
          <a:xfrm>
            <a:off x="777240" y="6437376"/>
            <a:ext cx="6400800" cy="274320"/>
          </a:xfrm>
          <a:prstGeom prst="rect">
            <a:avLst/>
          </a:prstGeom>
          <a:noFill/>
          <a:ln/>
        </p:spPr>
        <p:txBody>
          <a:bodyPr wrap="square" rtlCol="0" anchor="ctr"/>
          <a:lstStyle/>
          <a:p>
            <a:pPr marL="0" indent="0">
              <a:buNone/>
            </a:pPr>
            <a:r>
              <a:rPr lang="en-US" sz="950" dirty="0">
                <a:solidFill>
                  <a:srgbClr val="74809A"/>
                </a:solidFill>
                <a:latin typeface="Calibri" pitchFamily="34" charset="0"/>
                <a:ea typeface="Calibri" pitchFamily="34" charset="-122"/>
                <a:cs typeface="Calibri" pitchFamily="34" charset="-120"/>
              </a:rPr>
              <a:t>UoWM Library — Τεχνολογία Λογισμικού</a:t>
            </a:r>
            <a:endParaRPr lang="en-US" sz="950" dirty="0"/>
          </a:p>
        </p:txBody>
      </p:sp>
      <p:sp>
        <p:nvSpPr>
          <p:cNvPr id="5" name="Text 3"/>
          <p:cNvSpPr/>
          <p:nvPr/>
        </p:nvSpPr>
        <p:spPr>
          <a:xfrm>
            <a:off x="10972800" y="6437376"/>
            <a:ext cx="457200" cy="274320"/>
          </a:xfrm>
          <a:prstGeom prst="rect">
            <a:avLst/>
          </a:prstGeom>
          <a:noFill/>
          <a:ln/>
        </p:spPr>
        <p:txBody>
          <a:bodyPr wrap="square" rtlCol="0" anchor="ctr"/>
          <a:lstStyle/>
          <a:p>
            <a:pPr marL="0" indent="0" algn="r">
              <a:buNone/>
            </a:pPr>
            <a:r>
              <a:rPr lang="en-US" sz="950" dirty="0">
                <a:solidFill>
                  <a:srgbClr val="74809A"/>
                </a:solidFill>
                <a:latin typeface="Calibri" pitchFamily="34" charset="0"/>
                <a:ea typeface="Calibri" pitchFamily="34" charset="-122"/>
                <a:cs typeface="Calibri" pitchFamily="34" charset="-120"/>
              </a:rPr>
              <a:t>8</a:t>
            </a:r>
            <a:endParaRPr lang="en-US" sz="950" dirty="0"/>
          </a:p>
        </p:txBody>
      </p:sp>
      <p:sp>
        <p:nvSpPr>
          <p:cNvPr id="6" name="Shape 4"/>
          <p:cNvSpPr/>
          <p:nvPr/>
        </p:nvSpPr>
        <p:spPr>
          <a:xfrm>
            <a:off x="777240" y="1737360"/>
            <a:ext cx="3931920" cy="4343400"/>
          </a:xfrm>
          <a:prstGeom prst="roundRect">
            <a:avLst>
              <a:gd name="adj" fmla="val 2093"/>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pic>
        <p:nvPicPr>
          <p:cNvPr id="7" name="Image 0" descr="/home/claude/assets/uc.png"/>
          <p:cNvPicPr>
            <a:picLocks noChangeAspect="1"/>
          </p:cNvPicPr>
          <p:nvPr/>
        </p:nvPicPr>
        <p:blipFill>
          <a:blip r:embed="rId3"/>
          <a:srcRect/>
          <a:stretch/>
        </p:blipFill>
        <p:spPr>
          <a:xfrm>
            <a:off x="960120" y="1920240"/>
            <a:ext cx="3566160" cy="4023360"/>
          </a:xfrm>
          <a:prstGeom prst="rect">
            <a:avLst/>
          </a:prstGeom>
        </p:spPr>
      </p:pic>
      <p:sp>
        <p:nvSpPr>
          <p:cNvPr id="8" name="Shape 5"/>
          <p:cNvSpPr/>
          <p:nvPr/>
        </p:nvSpPr>
        <p:spPr>
          <a:xfrm>
            <a:off x="5029200" y="1737360"/>
            <a:ext cx="6355080" cy="1965960"/>
          </a:xfrm>
          <a:prstGeom prst="roundRect">
            <a:avLst>
              <a:gd name="adj" fmla="val 4186"/>
            </a:avLst>
          </a:prstGeom>
          <a:solidFill>
            <a:srgbClr val="EAF0FB"/>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9" name="Shape 6"/>
          <p:cNvSpPr/>
          <p:nvPr/>
        </p:nvSpPr>
        <p:spPr>
          <a:xfrm>
            <a:off x="5285232" y="2011680"/>
            <a:ext cx="640080" cy="640080"/>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10" name="Image 1" descr="preencoded.png"/>
          <p:cNvPicPr>
            <a:picLocks noChangeAspect="1"/>
          </p:cNvPicPr>
          <p:nvPr/>
        </p:nvPicPr>
        <p:blipFill>
          <a:blip r:embed="rId4"/>
          <a:stretch>
            <a:fillRect/>
          </a:stretch>
        </p:blipFill>
        <p:spPr>
          <a:xfrm>
            <a:off x="5458054" y="2184502"/>
            <a:ext cx="294437" cy="294437"/>
          </a:xfrm>
          <a:prstGeom prst="rect">
            <a:avLst/>
          </a:prstGeom>
        </p:spPr>
      </p:pic>
      <p:sp>
        <p:nvSpPr>
          <p:cNvPr id="11" name="Text 7"/>
          <p:cNvSpPr/>
          <p:nvPr/>
        </p:nvSpPr>
        <p:spPr>
          <a:xfrm>
            <a:off x="6053328" y="2029968"/>
            <a:ext cx="5029200" cy="502920"/>
          </a:xfrm>
          <a:prstGeom prst="rect">
            <a:avLst/>
          </a:prstGeom>
          <a:noFill/>
          <a:ln/>
        </p:spPr>
        <p:txBody>
          <a:bodyPr wrap="square" rtlCol="0" anchor="ctr"/>
          <a:lstStyle/>
          <a:p>
            <a:pPr marL="0" indent="0">
              <a:buNone/>
            </a:pPr>
            <a:r>
              <a:rPr lang="en-US" sz="1700" b="1" dirty="0">
                <a:solidFill>
                  <a:srgbClr val="0D2B6B"/>
                </a:solidFill>
                <a:latin typeface="Calibri" pitchFamily="34" charset="0"/>
                <a:ea typeface="Calibri" pitchFamily="34" charset="-122"/>
                <a:cs typeface="Calibri" pitchFamily="34" charset="-120"/>
              </a:rPr>
              <a:t>Επισκέπτης</a:t>
            </a:r>
            <a:endParaRPr lang="en-US" sz="1700" dirty="0"/>
          </a:p>
        </p:txBody>
      </p:sp>
      <p:sp>
        <p:nvSpPr>
          <p:cNvPr id="12" name="Text 8"/>
          <p:cNvSpPr/>
          <p:nvPr/>
        </p:nvSpPr>
        <p:spPr>
          <a:xfrm>
            <a:off x="6053328" y="2651760"/>
            <a:ext cx="5120640" cy="914400"/>
          </a:xfrm>
          <a:prstGeom prst="rect">
            <a:avLst/>
          </a:prstGeom>
          <a:noFill/>
          <a:ln/>
        </p:spPr>
        <p:txBody>
          <a:bodyPr wrap="square" rtlCol="0" anchor="ctr"/>
          <a:lstStyle/>
          <a:p>
            <a:pPr marL="0" indent="0">
              <a:lnSpc>
                <a:spcPct val="105000"/>
              </a:lnSpc>
              <a:buNone/>
            </a:pPr>
            <a:r>
              <a:rPr lang="en-US" sz="1300" dirty="0">
                <a:solidFill>
                  <a:srgbClr val="35415C"/>
                </a:solidFill>
                <a:latin typeface="Calibri" pitchFamily="34" charset="0"/>
                <a:ea typeface="Calibri" pitchFamily="34" charset="-122"/>
                <a:cs typeface="Calibri" pitchFamily="34" charset="-120"/>
              </a:rPr>
              <a:t>Πλοήγηση &amp; αναζήτηση · ανακοινώσεις · συλλογές &amp; υπηρεσίες · αλλαγή γλώσσας · dark/light · φόρμες · live chat</a:t>
            </a:r>
            <a:endParaRPr lang="en-US" sz="1300" dirty="0"/>
          </a:p>
        </p:txBody>
      </p:sp>
      <p:sp>
        <p:nvSpPr>
          <p:cNvPr id="13" name="Shape 9"/>
          <p:cNvSpPr/>
          <p:nvPr/>
        </p:nvSpPr>
        <p:spPr>
          <a:xfrm>
            <a:off x="5029200" y="4114800"/>
            <a:ext cx="6355080" cy="1965960"/>
          </a:xfrm>
          <a:prstGeom prst="roundRect">
            <a:avLst>
              <a:gd name="adj" fmla="val 4186"/>
            </a:avLst>
          </a:prstGeom>
          <a:solidFill>
            <a:srgbClr val="FBF1D9"/>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14" name="Shape 10"/>
          <p:cNvSpPr/>
          <p:nvPr/>
        </p:nvSpPr>
        <p:spPr>
          <a:xfrm>
            <a:off x="5285232" y="4389120"/>
            <a:ext cx="640080" cy="640080"/>
          </a:xfrm>
          <a:prstGeom prst="ellipse">
            <a:avLst/>
          </a:prstGeom>
          <a:solidFill>
            <a:srgbClr val="D4A017"/>
          </a:solidFill>
          <a:ln/>
          <a:effectLst>
            <a:outerShdw blurRad="88900" dist="25400" dir="2700000" algn="bl" rotWithShape="0">
              <a:srgbClr val="0A1430">
                <a:alpha val="18000"/>
              </a:srgbClr>
            </a:outerShdw>
          </a:effectLst>
        </p:spPr>
        <p:txBody>
          <a:bodyPr/>
          <a:lstStyle/>
          <a:p>
            <a:endParaRPr lang="el-GR"/>
          </a:p>
        </p:txBody>
      </p:sp>
      <p:pic>
        <p:nvPicPr>
          <p:cNvPr id="15" name="Image 2" descr="preencoded.png"/>
          <p:cNvPicPr>
            <a:picLocks noChangeAspect="1"/>
          </p:cNvPicPr>
          <p:nvPr/>
        </p:nvPicPr>
        <p:blipFill>
          <a:blip r:embed="rId5"/>
          <a:stretch>
            <a:fillRect/>
          </a:stretch>
        </p:blipFill>
        <p:spPr>
          <a:xfrm>
            <a:off x="5458054" y="4561942"/>
            <a:ext cx="294437" cy="294437"/>
          </a:xfrm>
          <a:prstGeom prst="rect">
            <a:avLst/>
          </a:prstGeom>
        </p:spPr>
      </p:pic>
      <p:sp>
        <p:nvSpPr>
          <p:cNvPr id="16" name="Text 11"/>
          <p:cNvSpPr/>
          <p:nvPr/>
        </p:nvSpPr>
        <p:spPr>
          <a:xfrm>
            <a:off x="6053328" y="4407408"/>
            <a:ext cx="5029200" cy="502920"/>
          </a:xfrm>
          <a:prstGeom prst="rect">
            <a:avLst/>
          </a:prstGeom>
          <a:noFill/>
          <a:ln/>
        </p:spPr>
        <p:txBody>
          <a:bodyPr wrap="square" rtlCol="0" anchor="ctr"/>
          <a:lstStyle/>
          <a:p>
            <a:pPr marL="0" indent="0">
              <a:buNone/>
            </a:pPr>
            <a:r>
              <a:rPr lang="en-US" sz="1700" b="1" dirty="0">
                <a:solidFill>
                  <a:srgbClr val="0D2B6B"/>
                </a:solidFill>
                <a:latin typeface="Calibri" pitchFamily="34" charset="0"/>
                <a:ea typeface="Calibri" pitchFamily="34" charset="-122"/>
                <a:cs typeface="Calibri" pitchFamily="34" charset="-120"/>
              </a:rPr>
              <a:t>Διαχειριστής</a:t>
            </a:r>
            <a:endParaRPr lang="en-US" sz="1700" dirty="0"/>
          </a:p>
        </p:txBody>
      </p:sp>
      <p:sp>
        <p:nvSpPr>
          <p:cNvPr id="17" name="Text 12"/>
          <p:cNvSpPr/>
          <p:nvPr/>
        </p:nvSpPr>
        <p:spPr>
          <a:xfrm>
            <a:off x="6053328" y="5029200"/>
            <a:ext cx="5120640" cy="914400"/>
          </a:xfrm>
          <a:prstGeom prst="rect">
            <a:avLst/>
          </a:prstGeom>
          <a:noFill/>
          <a:ln/>
        </p:spPr>
        <p:txBody>
          <a:bodyPr wrap="square" rtlCol="0" anchor="ctr"/>
          <a:lstStyle/>
          <a:p>
            <a:pPr marL="0" indent="0">
              <a:lnSpc>
                <a:spcPct val="105000"/>
              </a:lnSpc>
              <a:buNone/>
            </a:pPr>
            <a:r>
              <a:rPr lang="en-US" sz="1300" dirty="0">
                <a:solidFill>
                  <a:srgbClr val="35415C"/>
                </a:solidFill>
                <a:latin typeface="Calibri" pitchFamily="34" charset="0"/>
                <a:ea typeface="Calibri" pitchFamily="34" charset="-122"/>
                <a:cs typeface="Calibri" pitchFamily="34" charset="-120"/>
              </a:rPr>
              <a:t>Σύνδεση JWT · διαχείριση περιεχομένου (CMS) · παραρτήματα &amp; προσωπικό · υπηρεσίες &amp; συλλογές · media · απάντηση σε chat · στατιστικά</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777240" y="502920"/>
            <a:ext cx="9144000" cy="320040"/>
          </a:xfrm>
          <a:prstGeom prst="rect">
            <a:avLst/>
          </a:prstGeom>
          <a:noFill/>
          <a:ln/>
        </p:spPr>
        <p:txBody>
          <a:bodyPr wrap="square" rtlCol="0" anchor="ctr"/>
          <a:lstStyle/>
          <a:p>
            <a:pPr marL="0" indent="0">
              <a:buNone/>
            </a:pPr>
            <a:r>
              <a:rPr lang="en-US" sz="1300" b="1" kern="0" spc="300" dirty="0">
                <a:solidFill>
                  <a:srgbClr val="D4A017"/>
                </a:solidFill>
                <a:latin typeface="Calibri" pitchFamily="34" charset="0"/>
                <a:ea typeface="Calibri" pitchFamily="34" charset="-122"/>
                <a:cs typeface="Calibri" pitchFamily="34" charset="-120"/>
              </a:rPr>
              <a:t>ΑΝΑΠΤΥΞΗ</a:t>
            </a:r>
            <a:endParaRPr lang="en-US" sz="1300" dirty="0"/>
          </a:p>
        </p:txBody>
      </p:sp>
      <p:sp>
        <p:nvSpPr>
          <p:cNvPr id="3" name="Text 1"/>
          <p:cNvSpPr/>
          <p:nvPr/>
        </p:nvSpPr>
        <p:spPr>
          <a:xfrm>
            <a:off x="749808" y="768096"/>
            <a:ext cx="10607040" cy="868680"/>
          </a:xfrm>
          <a:prstGeom prst="rect">
            <a:avLst/>
          </a:prstGeom>
          <a:noFill/>
          <a:ln/>
        </p:spPr>
        <p:txBody>
          <a:bodyPr wrap="square" lIns="0" tIns="0" rIns="0" bIns="0" rtlCol="0" anchor="ctr"/>
          <a:lstStyle/>
          <a:p>
            <a:pPr marL="0" indent="0">
              <a:buNone/>
            </a:pPr>
            <a:r>
              <a:rPr lang="en-US" sz="3300" b="1" dirty="0">
                <a:solidFill>
                  <a:srgbClr val="0D2B6B"/>
                </a:solidFill>
                <a:latin typeface="Cambria" pitchFamily="34" charset="0"/>
                <a:ea typeface="Cambria" pitchFamily="34" charset="-122"/>
                <a:cs typeface="Cambria" pitchFamily="34" charset="-120"/>
              </a:rPr>
              <a:t>Πώς τρέχει το σύστημα</a:t>
            </a:r>
            <a:endParaRPr lang="en-US" sz="3300" dirty="0"/>
          </a:p>
        </p:txBody>
      </p:sp>
      <p:sp>
        <p:nvSpPr>
          <p:cNvPr id="4" name="Text 2"/>
          <p:cNvSpPr/>
          <p:nvPr/>
        </p:nvSpPr>
        <p:spPr>
          <a:xfrm>
            <a:off x="777240" y="6437376"/>
            <a:ext cx="6400800" cy="274320"/>
          </a:xfrm>
          <a:prstGeom prst="rect">
            <a:avLst/>
          </a:prstGeom>
          <a:noFill/>
          <a:ln/>
        </p:spPr>
        <p:txBody>
          <a:bodyPr wrap="square" rtlCol="0" anchor="ctr"/>
          <a:lstStyle/>
          <a:p>
            <a:pPr marL="0" indent="0">
              <a:buNone/>
            </a:pPr>
            <a:r>
              <a:rPr lang="en-US" sz="950" dirty="0">
                <a:solidFill>
                  <a:srgbClr val="74809A"/>
                </a:solidFill>
                <a:latin typeface="Calibri" pitchFamily="34" charset="0"/>
                <a:ea typeface="Calibri" pitchFamily="34" charset="-122"/>
                <a:cs typeface="Calibri" pitchFamily="34" charset="-120"/>
              </a:rPr>
              <a:t>UoWM Library — Τεχνολογία Λογισμικού</a:t>
            </a:r>
            <a:endParaRPr lang="en-US" sz="950" dirty="0"/>
          </a:p>
        </p:txBody>
      </p:sp>
      <p:sp>
        <p:nvSpPr>
          <p:cNvPr id="5" name="Text 3"/>
          <p:cNvSpPr/>
          <p:nvPr/>
        </p:nvSpPr>
        <p:spPr>
          <a:xfrm>
            <a:off x="10972800" y="6437376"/>
            <a:ext cx="457200" cy="274320"/>
          </a:xfrm>
          <a:prstGeom prst="rect">
            <a:avLst/>
          </a:prstGeom>
          <a:noFill/>
          <a:ln/>
        </p:spPr>
        <p:txBody>
          <a:bodyPr wrap="square" rtlCol="0" anchor="ctr"/>
          <a:lstStyle/>
          <a:p>
            <a:pPr marL="0" indent="0" algn="r">
              <a:buNone/>
            </a:pPr>
            <a:r>
              <a:rPr lang="en-US" sz="950" dirty="0">
                <a:solidFill>
                  <a:srgbClr val="74809A"/>
                </a:solidFill>
                <a:latin typeface="Calibri" pitchFamily="34" charset="0"/>
                <a:ea typeface="Calibri" pitchFamily="34" charset="-122"/>
                <a:cs typeface="Calibri" pitchFamily="34" charset="-120"/>
              </a:rPr>
              <a:t>9</a:t>
            </a:r>
            <a:endParaRPr lang="en-US" sz="950" dirty="0"/>
          </a:p>
        </p:txBody>
      </p:sp>
      <p:sp>
        <p:nvSpPr>
          <p:cNvPr id="6" name="Shape 4"/>
          <p:cNvSpPr/>
          <p:nvPr/>
        </p:nvSpPr>
        <p:spPr>
          <a:xfrm>
            <a:off x="777240" y="1783080"/>
            <a:ext cx="10607040" cy="2697480"/>
          </a:xfrm>
          <a:prstGeom prst="roundRect">
            <a:avLst>
              <a:gd name="adj" fmla="val 3051"/>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pic>
        <p:nvPicPr>
          <p:cNvPr id="7" name="Image 0" descr="/home/claude/assets/deploy.png"/>
          <p:cNvPicPr>
            <a:picLocks noChangeAspect="1"/>
          </p:cNvPicPr>
          <p:nvPr/>
        </p:nvPicPr>
        <p:blipFill>
          <a:blip r:embed="rId3"/>
          <a:srcRect/>
          <a:stretch/>
        </p:blipFill>
        <p:spPr>
          <a:xfrm>
            <a:off x="1005840" y="2011680"/>
            <a:ext cx="10149840" cy="2240280"/>
          </a:xfrm>
          <a:prstGeom prst="rect">
            <a:avLst/>
          </a:prstGeom>
        </p:spPr>
      </p:pic>
      <p:sp>
        <p:nvSpPr>
          <p:cNvPr id="8" name="Shape 5"/>
          <p:cNvSpPr/>
          <p:nvPr/>
        </p:nvSpPr>
        <p:spPr>
          <a:xfrm>
            <a:off x="777240" y="4709160"/>
            <a:ext cx="3291840" cy="1371600"/>
          </a:xfrm>
          <a:prstGeom prst="roundRect">
            <a:avLst>
              <a:gd name="adj" fmla="val 6000"/>
            </a:avLst>
          </a:prstGeom>
          <a:solidFill>
            <a:srgbClr val="EAF0FB"/>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9" name="Shape 6"/>
          <p:cNvSpPr/>
          <p:nvPr/>
        </p:nvSpPr>
        <p:spPr>
          <a:xfrm>
            <a:off x="996696" y="4937760"/>
            <a:ext cx="548640" cy="548640"/>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10" name="Image 1" descr="preencoded.png"/>
          <p:cNvPicPr>
            <a:picLocks noChangeAspect="1"/>
          </p:cNvPicPr>
          <p:nvPr/>
        </p:nvPicPr>
        <p:blipFill>
          <a:blip r:embed="rId4"/>
          <a:stretch>
            <a:fillRect/>
          </a:stretch>
        </p:blipFill>
        <p:spPr>
          <a:xfrm>
            <a:off x="1144829" y="5085893"/>
            <a:ext cx="252374" cy="252374"/>
          </a:xfrm>
          <a:prstGeom prst="rect">
            <a:avLst/>
          </a:prstGeom>
        </p:spPr>
      </p:pic>
      <p:sp>
        <p:nvSpPr>
          <p:cNvPr id="11" name="Text 7"/>
          <p:cNvSpPr/>
          <p:nvPr/>
        </p:nvSpPr>
        <p:spPr>
          <a:xfrm>
            <a:off x="1673352" y="4919472"/>
            <a:ext cx="2286000" cy="365760"/>
          </a:xfrm>
          <a:prstGeom prst="rect">
            <a:avLst/>
          </a:prstGeom>
          <a:noFill/>
          <a:ln/>
        </p:spPr>
        <p:txBody>
          <a:bodyPr wrap="square" rtlCol="0" anchor="ctr"/>
          <a:lstStyle/>
          <a:p>
            <a:pPr marL="0" indent="0">
              <a:buNone/>
            </a:pPr>
            <a:r>
              <a:rPr lang="en-US" sz="1400" b="1" dirty="0">
                <a:solidFill>
                  <a:srgbClr val="0D2B6B"/>
                </a:solidFill>
                <a:latin typeface="Calibri" pitchFamily="34" charset="0"/>
                <a:ea typeface="Calibri" pitchFamily="34" charset="-122"/>
                <a:cs typeface="Calibri" pitchFamily="34" charset="-120"/>
              </a:rPr>
              <a:t>Web Browser</a:t>
            </a:r>
            <a:endParaRPr lang="en-US" sz="1400" dirty="0"/>
          </a:p>
        </p:txBody>
      </p:sp>
      <p:sp>
        <p:nvSpPr>
          <p:cNvPr id="12" name="Text 8"/>
          <p:cNvSpPr/>
          <p:nvPr/>
        </p:nvSpPr>
        <p:spPr>
          <a:xfrm>
            <a:off x="1673352" y="5303520"/>
            <a:ext cx="2240280" cy="685800"/>
          </a:xfrm>
          <a:prstGeom prst="rect">
            <a:avLst/>
          </a:prstGeom>
          <a:noFill/>
          <a:ln/>
        </p:spPr>
        <p:txBody>
          <a:bodyPr wrap="square" rtlCol="0" anchor="ctr"/>
          <a:lstStyle/>
          <a:p>
            <a:pPr marL="0" indent="0">
              <a:lnSpc>
                <a:spcPct val="100000"/>
              </a:lnSpc>
              <a:buNone/>
            </a:pPr>
            <a:r>
              <a:rPr lang="en-US" sz="1100" dirty="0">
                <a:solidFill>
                  <a:srgbClr val="35415C"/>
                </a:solidFill>
                <a:latin typeface="Calibri" pitchFamily="34" charset="0"/>
                <a:ea typeface="Calibri" pitchFamily="34" charset="-122"/>
                <a:cs typeface="Calibri" pitchFamily="34" charset="-120"/>
              </a:rPr>
              <a:t>Δύο Flutter Web bundles: δημόσιο site + admin panel</a:t>
            </a:r>
            <a:endParaRPr lang="en-US" sz="1100" dirty="0"/>
          </a:p>
        </p:txBody>
      </p:sp>
      <p:sp>
        <p:nvSpPr>
          <p:cNvPr id="13" name="Shape 9"/>
          <p:cNvSpPr/>
          <p:nvPr/>
        </p:nvSpPr>
        <p:spPr>
          <a:xfrm>
            <a:off x="4389120" y="4709160"/>
            <a:ext cx="3291840" cy="1371600"/>
          </a:xfrm>
          <a:prstGeom prst="roundRect">
            <a:avLst>
              <a:gd name="adj" fmla="val 6000"/>
            </a:avLst>
          </a:prstGeom>
          <a:solidFill>
            <a:srgbClr val="EAF0FB"/>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14" name="Shape 10"/>
          <p:cNvSpPr/>
          <p:nvPr/>
        </p:nvSpPr>
        <p:spPr>
          <a:xfrm>
            <a:off x="4608576" y="4937760"/>
            <a:ext cx="548640" cy="548640"/>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15" name="Image 2" descr="preencoded.png"/>
          <p:cNvPicPr>
            <a:picLocks noChangeAspect="1"/>
          </p:cNvPicPr>
          <p:nvPr/>
        </p:nvPicPr>
        <p:blipFill>
          <a:blip r:embed="rId5"/>
          <a:stretch>
            <a:fillRect/>
          </a:stretch>
        </p:blipFill>
        <p:spPr>
          <a:xfrm>
            <a:off x="4756709" y="5085893"/>
            <a:ext cx="252374" cy="252374"/>
          </a:xfrm>
          <a:prstGeom prst="rect">
            <a:avLst/>
          </a:prstGeom>
        </p:spPr>
      </p:pic>
      <p:sp>
        <p:nvSpPr>
          <p:cNvPr id="16" name="Text 11"/>
          <p:cNvSpPr/>
          <p:nvPr/>
        </p:nvSpPr>
        <p:spPr>
          <a:xfrm>
            <a:off x="5285232" y="4919472"/>
            <a:ext cx="2286000" cy="365760"/>
          </a:xfrm>
          <a:prstGeom prst="rect">
            <a:avLst/>
          </a:prstGeom>
          <a:noFill/>
          <a:ln/>
        </p:spPr>
        <p:txBody>
          <a:bodyPr wrap="square" rtlCol="0" anchor="ctr"/>
          <a:lstStyle/>
          <a:p>
            <a:pPr marL="0" indent="0">
              <a:buNone/>
            </a:pPr>
            <a:r>
              <a:rPr lang="en-US" sz="1400" b="1" dirty="0">
                <a:solidFill>
                  <a:srgbClr val="0D2B6B"/>
                </a:solidFill>
                <a:latin typeface="Calibri" pitchFamily="34" charset="0"/>
                <a:ea typeface="Calibri" pitchFamily="34" charset="-122"/>
                <a:cs typeface="Calibri" pitchFamily="34" charset="-120"/>
              </a:rPr>
              <a:t>Ubuntu VM</a:t>
            </a:r>
            <a:endParaRPr lang="en-US" sz="1400" dirty="0"/>
          </a:p>
        </p:txBody>
      </p:sp>
      <p:sp>
        <p:nvSpPr>
          <p:cNvPr id="17" name="Text 12"/>
          <p:cNvSpPr/>
          <p:nvPr/>
        </p:nvSpPr>
        <p:spPr>
          <a:xfrm>
            <a:off x="5285232" y="5303520"/>
            <a:ext cx="2240280" cy="685800"/>
          </a:xfrm>
          <a:prstGeom prst="rect">
            <a:avLst/>
          </a:prstGeom>
          <a:noFill/>
          <a:ln/>
        </p:spPr>
        <p:txBody>
          <a:bodyPr wrap="square" rtlCol="0" anchor="ctr"/>
          <a:lstStyle/>
          <a:p>
            <a:pPr marL="0" indent="0">
              <a:lnSpc>
                <a:spcPct val="100000"/>
              </a:lnSpc>
              <a:buNone/>
            </a:pPr>
            <a:r>
              <a:rPr lang="en-US" sz="1100" dirty="0">
                <a:solidFill>
                  <a:srgbClr val="35415C"/>
                </a:solidFill>
                <a:latin typeface="Calibri" pitchFamily="34" charset="0"/>
                <a:ea typeface="Calibri" pitchFamily="34" charset="-122"/>
                <a:cs typeface="Calibri" pitchFamily="34" charset="-120"/>
              </a:rPr>
              <a:t>Uvicorn + FastAPI (REST + WebSocket)</a:t>
            </a:r>
            <a:endParaRPr lang="en-US" sz="1100" dirty="0"/>
          </a:p>
        </p:txBody>
      </p:sp>
      <p:sp>
        <p:nvSpPr>
          <p:cNvPr id="18" name="Shape 13"/>
          <p:cNvSpPr/>
          <p:nvPr/>
        </p:nvSpPr>
        <p:spPr>
          <a:xfrm>
            <a:off x="8001000" y="4709160"/>
            <a:ext cx="3291840" cy="1371600"/>
          </a:xfrm>
          <a:prstGeom prst="roundRect">
            <a:avLst>
              <a:gd name="adj" fmla="val 6000"/>
            </a:avLst>
          </a:prstGeom>
          <a:solidFill>
            <a:srgbClr val="EAF0FB"/>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19" name="Shape 14"/>
          <p:cNvSpPr/>
          <p:nvPr/>
        </p:nvSpPr>
        <p:spPr>
          <a:xfrm>
            <a:off x="8220456" y="4937760"/>
            <a:ext cx="548640" cy="548640"/>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20" name="Image 3" descr="preencoded.png"/>
          <p:cNvPicPr>
            <a:picLocks noChangeAspect="1"/>
          </p:cNvPicPr>
          <p:nvPr/>
        </p:nvPicPr>
        <p:blipFill>
          <a:blip r:embed="rId6"/>
          <a:stretch>
            <a:fillRect/>
          </a:stretch>
        </p:blipFill>
        <p:spPr>
          <a:xfrm>
            <a:off x="8368589" y="5085893"/>
            <a:ext cx="252374" cy="252374"/>
          </a:xfrm>
          <a:prstGeom prst="rect">
            <a:avLst/>
          </a:prstGeom>
        </p:spPr>
      </p:pic>
      <p:sp>
        <p:nvSpPr>
          <p:cNvPr id="21" name="Text 15"/>
          <p:cNvSpPr/>
          <p:nvPr/>
        </p:nvSpPr>
        <p:spPr>
          <a:xfrm>
            <a:off x="8897112" y="4919472"/>
            <a:ext cx="2286000" cy="365760"/>
          </a:xfrm>
          <a:prstGeom prst="rect">
            <a:avLst/>
          </a:prstGeom>
          <a:noFill/>
          <a:ln/>
        </p:spPr>
        <p:txBody>
          <a:bodyPr wrap="square" rtlCol="0" anchor="ctr"/>
          <a:lstStyle/>
          <a:p>
            <a:pPr marL="0" indent="0">
              <a:buNone/>
            </a:pPr>
            <a:r>
              <a:rPr lang="en-US" sz="1400" b="1" dirty="0">
                <a:solidFill>
                  <a:srgbClr val="0D2B6B"/>
                </a:solidFill>
                <a:latin typeface="Calibri" pitchFamily="34" charset="0"/>
                <a:ea typeface="Calibri" pitchFamily="34" charset="-122"/>
                <a:cs typeface="Calibri" pitchFamily="34" charset="-120"/>
              </a:rPr>
              <a:t>Cloud</a:t>
            </a:r>
            <a:endParaRPr lang="en-US" sz="1400" dirty="0"/>
          </a:p>
        </p:txBody>
      </p:sp>
      <p:sp>
        <p:nvSpPr>
          <p:cNvPr id="22" name="Text 16"/>
          <p:cNvSpPr/>
          <p:nvPr/>
        </p:nvSpPr>
        <p:spPr>
          <a:xfrm>
            <a:off x="8897112" y="5303520"/>
            <a:ext cx="2240280" cy="685800"/>
          </a:xfrm>
          <a:prstGeom prst="rect">
            <a:avLst/>
          </a:prstGeom>
          <a:noFill/>
          <a:ln/>
        </p:spPr>
        <p:txBody>
          <a:bodyPr wrap="square" rtlCol="0" anchor="ctr"/>
          <a:lstStyle/>
          <a:p>
            <a:pPr marL="0" indent="0">
              <a:lnSpc>
                <a:spcPct val="100000"/>
              </a:lnSpc>
              <a:buNone/>
            </a:pPr>
            <a:r>
              <a:rPr lang="en-US" sz="1100" dirty="0">
                <a:solidFill>
                  <a:srgbClr val="35415C"/>
                </a:solidFill>
                <a:latin typeface="Calibri" pitchFamily="34" charset="0"/>
                <a:ea typeface="Calibri" pitchFamily="34" charset="-122"/>
                <a:cs typeface="Calibri" pitchFamily="34" charset="-120"/>
              </a:rPr>
              <a:t>MongoDB 7.0 + Firebase Storage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F52"/>
        </a:solidFill>
        <a:effectLst/>
      </p:bgPr>
    </p:bg>
    <p:spTree>
      <p:nvGrpSpPr>
        <p:cNvPr id="1" name=""/>
        <p:cNvGrpSpPr/>
        <p:nvPr/>
      </p:nvGrpSpPr>
      <p:grpSpPr>
        <a:xfrm>
          <a:off x="0" y="0"/>
          <a:ext cx="0" cy="0"/>
          <a:chOff x="0" y="0"/>
          <a:chExt cx="0" cy="0"/>
        </a:xfrm>
      </p:grpSpPr>
      <p:sp>
        <p:nvSpPr>
          <p:cNvPr id="2" name="Text 0"/>
          <p:cNvSpPr/>
          <p:nvPr/>
        </p:nvSpPr>
        <p:spPr>
          <a:xfrm>
            <a:off x="777240" y="6437376"/>
            <a:ext cx="6400800" cy="274320"/>
          </a:xfrm>
          <a:prstGeom prst="rect">
            <a:avLst/>
          </a:prstGeom>
          <a:noFill/>
          <a:ln/>
        </p:spPr>
        <p:txBody>
          <a:bodyPr wrap="square" rtlCol="0" anchor="ctr"/>
          <a:lstStyle/>
          <a:p>
            <a:pPr marL="0" indent="0">
              <a:buNone/>
            </a:pPr>
            <a:r>
              <a:rPr lang="en-US" sz="950" dirty="0">
                <a:solidFill>
                  <a:srgbClr val="74809A"/>
                </a:solidFill>
                <a:latin typeface="Calibri" pitchFamily="34" charset="0"/>
                <a:ea typeface="Calibri" pitchFamily="34" charset="-122"/>
                <a:cs typeface="Calibri" pitchFamily="34" charset="-120"/>
              </a:rPr>
              <a:t>UoWM Library — Τεχνολογία Λογισμικού</a:t>
            </a:r>
            <a:endParaRPr lang="en-US" sz="950" dirty="0"/>
          </a:p>
        </p:txBody>
      </p:sp>
      <p:sp>
        <p:nvSpPr>
          <p:cNvPr id="3" name="Text 1"/>
          <p:cNvSpPr/>
          <p:nvPr/>
        </p:nvSpPr>
        <p:spPr>
          <a:xfrm>
            <a:off x="10972800" y="6437376"/>
            <a:ext cx="457200" cy="274320"/>
          </a:xfrm>
          <a:prstGeom prst="rect">
            <a:avLst/>
          </a:prstGeom>
          <a:noFill/>
          <a:ln/>
        </p:spPr>
        <p:txBody>
          <a:bodyPr wrap="square" rtlCol="0" anchor="ctr"/>
          <a:lstStyle/>
          <a:p>
            <a:pPr marL="0" indent="0" algn="r">
              <a:buNone/>
            </a:pPr>
            <a:r>
              <a:rPr lang="en-US" sz="950" dirty="0">
                <a:solidFill>
                  <a:srgbClr val="74809A"/>
                </a:solidFill>
                <a:latin typeface="Calibri" pitchFamily="34" charset="0"/>
                <a:ea typeface="Calibri" pitchFamily="34" charset="-122"/>
                <a:cs typeface="Calibri" pitchFamily="34" charset="-120"/>
              </a:rPr>
              <a:t>10</a:t>
            </a:r>
            <a:endParaRPr lang="en-US" sz="950" dirty="0"/>
          </a:p>
        </p:txBody>
      </p:sp>
      <p:sp>
        <p:nvSpPr>
          <p:cNvPr id="4" name="Text 2"/>
          <p:cNvSpPr/>
          <p:nvPr/>
        </p:nvSpPr>
        <p:spPr>
          <a:xfrm>
            <a:off x="777240" y="457200"/>
            <a:ext cx="10058400" cy="320040"/>
          </a:xfrm>
          <a:prstGeom prst="rect">
            <a:avLst/>
          </a:prstGeom>
          <a:noFill/>
          <a:ln/>
        </p:spPr>
        <p:txBody>
          <a:bodyPr wrap="square" rtlCol="0" anchor="ctr"/>
          <a:lstStyle/>
          <a:p>
            <a:pPr marL="0" indent="0">
              <a:buNone/>
            </a:pPr>
            <a:r>
              <a:rPr lang="en-US" sz="1300" b="1" kern="0" spc="300" dirty="0">
                <a:solidFill>
                  <a:srgbClr val="E8B84B"/>
                </a:solidFill>
                <a:latin typeface="Calibri" pitchFamily="34" charset="0"/>
                <a:ea typeface="Calibri" pitchFamily="34" charset="-122"/>
                <a:cs typeface="Calibri" pitchFamily="34" charset="-120"/>
              </a:rPr>
              <a:t>ΤΙ ΠΡΟΤΟΠΟΡΙΑΚΟ ΠΡΟΣΦΕΡΟΥΜΕ</a:t>
            </a:r>
            <a:endParaRPr lang="en-US" sz="1300" dirty="0"/>
          </a:p>
        </p:txBody>
      </p:sp>
      <p:sp>
        <p:nvSpPr>
          <p:cNvPr id="5" name="Text 3"/>
          <p:cNvSpPr/>
          <p:nvPr/>
        </p:nvSpPr>
        <p:spPr>
          <a:xfrm>
            <a:off x="749808" y="749808"/>
            <a:ext cx="1060704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book-library  →  UoWM Library</a:t>
            </a:r>
            <a:endParaRPr lang="en-US" sz="3200" dirty="0"/>
          </a:p>
        </p:txBody>
      </p:sp>
      <p:sp>
        <p:nvSpPr>
          <p:cNvPr id="6" name="Shape 4"/>
          <p:cNvSpPr/>
          <p:nvPr/>
        </p:nvSpPr>
        <p:spPr>
          <a:xfrm>
            <a:off x="4617720" y="1783080"/>
            <a:ext cx="3246120" cy="457200"/>
          </a:xfrm>
          <a:prstGeom prst="roundRect">
            <a:avLst>
              <a:gd name="adj" fmla="val 12000"/>
            </a:avLst>
          </a:prstGeom>
          <a:solidFill>
            <a:srgbClr val="0D2B6B"/>
          </a:solidFill>
          <a:ln w="12700">
            <a:solidFill>
              <a:srgbClr val="1A3A8C"/>
            </a:solidFill>
            <a:prstDash val="solid"/>
          </a:ln>
        </p:spPr>
        <p:txBody>
          <a:bodyPr/>
          <a:lstStyle/>
          <a:p>
            <a:endParaRPr lang="el-GR"/>
          </a:p>
        </p:txBody>
      </p:sp>
      <p:sp>
        <p:nvSpPr>
          <p:cNvPr id="7" name="Text 5"/>
          <p:cNvSpPr/>
          <p:nvPr/>
        </p:nvSpPr>
        <p:spPr>
          <a:xfrm>
            <a:off x="4617720" y="1783080"/>
            <a:ext cx="3246120" cy="457200"/>
          </a:xfrm>
          <a:prstGeom prst="rect">
            <a:avLst/>
          </a:prstGeom>
          <a:noFill/>
          <a:ln/>
        </p:spPr>
        <p:txBody>
          <a:bodyPr wrap="square" rtlCol="0" anchor="ctr"/>
          <a:lstStyle/>
          <a:p>
            <a:pPr marL="0" indent="0" algn="ctr">
              <a:buNone/>
            </a:pPr>
            <a:r>
              <a:rPr lang="en-US" sz="1300" b="1" dirty="0">
                <a:solidFill>
                  <a:srgbClr val="C9D4EC"/>
                </a:solidFill>
                <a:latin typeface="Calibri" pitchFamily="34" charset="0"/>
                <a:ea typeface="Calibri" pitchFamily="34" charset="-122"/>
                <a:cs typeface="Calibri" pitchFamily="34" charset="-120"/>
              </a:rPr>
              <a:t>devrnt/book-library</a:t>
            </a:r>
            <a:endParaRPr lang="en-US" sz="1300" dirty="0"/>
          </a:p>
        </p:txBody>
      </p:sp>
      <p:sp>
        <p:nvSpPr>
          <p:cNvPr id="8" name="Shape 6"/>
          <p:cNvSpPr/>
          <p:nvPr/>
        </p:nvSpPr>
        <p:spPr>
          <a:xfrm>
            <a:off x="8092440" y="1783080"/>
            <a:ext cx="3291840" cy="457200"/>
          </a:xfrm>
          <a:prstGeom prst="roundRect">
            <a:avLst>
              <a:gd name="adj" fmla="val 12000"/>
            </a:avLst>
          </a:prstGeom>
          <a:solidFill>
            <a:srgbClr val="D4A017"/>
          </a:solidFill>
          <a:ln/>
        </p:spPr>
        <p:txBody>
          <a:bodyPr/>
          <a:lstStyle/>
          <a:p>
            <a:endParaRPr lang="el-GR"/>
          </a:p>
        </p:txBody>
      </p:sp>
      <p:sp>
        <p:nvSpPr>
          <p:cNvPr id="9" name="Text 7"/>
          <p:cNvSpPr/>
          <p:nvPr/>
        </p:nvSpPr>
        <p:spPr>
          <a:xfrm>
            <a:off x="8092440" y="1783080"/>
            <a:ext cx="3291840" cy="457200"/>
          </a:xfrm>
          <a:prstGeom prst="rect">
            <a:avLst/>
          </a:prstGeom>
          <a:noFill/>
          <a:ln/>
        </p:spPr>
        <p:txBody>
          <a:bodyPr wrap="square" rtlCol="0" anchor="ctr"/>
          <a:lstStyle/>
          <a:p>
            <a:pPr marL="0" indent="0" algn="ctr">
              <a:buNone/>
            </a:pPr>
            <a:r>
              <a:rPr lang="en-US" sz="1300" b="1" dirty="0">
                <a:solidFill>
                  <a:srgbClr val="0A1F52"/>
                </a:solidFill>
                <a:latin typeface="Calibri" pitchFamily="34" charset="0"/>
                <a:ea typeface="Calibri" pitchFamily="34" charset="-122"/>
                <a:cs typeface="Calibri" pitchFamily="34" charset="-120"/>
              </a:rPr>
              <a:t>UoWM Library</a:t>
            </a:r>
            <a:endParaRPr lang="en-US" sz="1300" dirty="0"/>
          </a:p>
        </p:txBody>
      </p:sp>
      <p:sp>
        <p:nvSpPr>
          <p:cNvPr id="10" name="Text 8"/>
          <p:cNvSpPr/>
          <p:nvPr/>
        </p:nvSpPr>
        <p:spPr>
          <a:xfrm>
            <a:off x="777240" y="2395728"/>
            <a:ext cx="3703320" cy="54406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Πλατφόρμα</a:t>
            </a:r>
            <a:endParaRPr lang="en-US" sz="1350" dirty="0"/>
          </a:p>
        </p:txBody>
      </p:sp>
      <p:sp>
        <p:nvSpPr>
          <p:cNvPr id="11" name="Text 9"/>
          <p:cNvSpPr/>
          <p:nvPr/>
        </p:nvSpPr>
        <p:spPr>
          <a:xfrm>
            <a:off x="4617720" y="2395728"/>
            <a:ext cx="3246120" cy="544068"/>
          </a:xfrm>
          <a:prstGeom prst="rect">
            <a:avLst/>
          </a:prstGeom>
          <a:noFill/>
          <a:ln/>
        </p:spPr>
        <p:txBody>
          <a:bodyPr wrap="square" rtlCol="0" anchor="ctr"/>
          <a:lstStyle/>
          <a:p>
            <a:pPr marL="0" indent="0" algn="ctr">
              <a:buNone/>
            </a:pPr>
            <a:r>
              <a:rPr lang="en-US" sz="1250" dirty="0">
                <a:solidFill>
                  <a:srgbClr val="8A98C0"/>
                </a:solidFill>
                <a:latin typeface="Calibri" pitchFamily="34" charset="0"/>
                <a:ea typeface="Calibri" pitchFamily="34" charset="-122"/>
                <a:cs typeface="Calibri" pitchFamily="34" charset="-120"/>
              </a:rPr>
              <a:t>Mobile app</a:t>
            </a:r>
            <a:endParaRPr lang="en-US" sz="1250" dirty="0"/>
          </a:p>
        </p:txBody>
      </p:sp>
      <p:sp>
        <p:nvSpPr>
          <p:cNvPr id="12" name="Shape 10"/>
          <p:cNvSpPr/>
          <p:nvPr/>
        </p:nvSpPr>
        <p:spPr>
          <a:xfrm>
            <a:off x="8092440" y="2432304"/>
            <a:ext cx="3291840" cy="434340"/>
          </a:xfrm>
          <a:prstGeom prst="roundRect">
            <a:avLst>
              <a:gd name="adj" fmla="val 10526"/>
            </a:avLst>
          </a:prstGeom>
          <a:solidFill>
            <a:srgbClr val="0D2B6B"/>
          </a:solidFill>
          <a:ln w="9525">
            <a:solidFill>
              <a:srgbClr val="D4A017">
                <a:alpha val="60000"/>
              </a:srgbClr>
            </a:solidFill>
            <a:prstDash val="solid"/>
          </a:ln>
        </p:spPr>
        <p:txBody>
          <a:bodyPr/>
          <a:lstStyle/>
          <a:p>
            <a:endParaRPr lang="el-GR"/>
          </a:p>
        </p:txBody>
      </p:sp>
      <p:sp>
        <p:nvSpPr>
          <p:cNvPr id="13" name="Text 11"/>
          <p:cNvSpPr/>
          <p:nvPr/>
        </p:nvSpPr>
        <p:spPr>
          <a:xfrm>
            <a:off x="8138160" y="2432304"/>
            <a:ext cx="3200400" cy="434340"/>
          </a:xfrm>
          <a:prstGeom prst="rect">
            <a:avLst/>
          </a:prstGeom>
          <a:noFill/>
          <a:ln/>
        </p:spPr>
        <p:txBody>
          <a:bodyPr wrap="square" rtlCol="0" anchor="ctr"/>
          <a:lstStyle/>
          <a:p>
            <a:pPr marL="0" indent="0" algn="ctr">
              <a:buNone/>
            </a:pPr>
            <a:r>
              <a:rPr lang="en-US" sz="1250" b="1" dirty="0">
                <a:solidFill>
                  <a:srgbClr val="E8B84B"/>
                </a:solidFill>
                <a:latin typeface="Calibri" pitchFamily="34" charset="0"/>
                <a:ea typeface="Calibri" pitchFamily="34" charset="-122"/>
                <a:cs typeface="Calibri" pitchFamily="34" charset="-120"/>
              </a:rPr>
              <a:t>Δημόσιο web + admin</a:t>
            </a:r>
            <a:endParaRPr lang="en-US" sz="1250" dirty="0"/>
          </a:p>
        </p:txBody>
      </p:sp>
      <p:sp>
        <p:nvSpPr>
          <p:cNvPr id="14" name="Text 12"/>
          <p:cNvSpPr/>
          <p:nvPr/>
        </p:nvSpPr>
        <p:spPr>
          <a:xfrm>
            <a:off x="777240" y="2939796"/>
            <a:ext cx="3703320" cy="54406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Αρχιτεκτονική</a:t>
            </a:r>
            <a:endParaRPr lang="en-US" sz="1350" dirty="0"/>
          </a:p>
        </p:txBody>
      </p:sp>
      <p:sp>
        <p:nvSpPr>
          <p:cNvPr id="15" name="Text 13"/>
          <p:cNvSpPr/>
          <p:nvPr/>
        </p:nvSpPr>
        <p:spPr>
          <a:xfrm>
            <a:off x="4617720" y="2939796"/>
            <a:ext cx="3246120" cy="544068"/>
          </a:xfrm>
          <a:prstGeom prst="rect">
            <a:avLst/>
          </a:prstGeom>
          <a:noFill/>
          <a:ln/>
        </p:spPr>
        <p:txBody>
          <a:bodyPr wrap="square" rtlCol="0" anchor="ctr"/>
          <a:lstStyle/>
          <a:p>
            <a:pPr marL="0" indent="0" algn="ctr">
              <a:buNone/>
            </a:pPr>
            <a:r>
              <a:rPr lang="en-US" sz="1250" dirty="0">
                <a:solidFill>
                  <a:srgbClr val="8A98C0"/>
                </a:solidFill>
                <a:latin typeface="Calibri" pitchFamily="34" charset="0"/>
                <a:ea typeface="Calibri" pitchFamily="34" charset="-122"/>
                <a:cs typeface="Calibri" pitchFamily="34" charset="-120"/>
              </a:rPr>
              <a:t>Ένα επίπεδο</a:t>
            </a:r>
            <a:endParaRPr lang="en-US" sz="1250" dirty="0"/>
          </a:p>
        </p:txBody>
      </p:sp>
      <p:sp>
        <p:nvSpPr>
          <p:cNvPr id="16" name="Shape 14"/>
          <p:cNvSpPr/>
          <p:nvPr/>
        </p:nvSpPr>
        <p:spPr>
          <a:xfrm>
            <a:off x="8092440" y="2976372"/>
            <a:ext cx="3291840" cy="434340"/>
          </a:xfrm>
          <a:prstGeom prst="roundRect">
            <a:avLst>
              <a:gd name="adj" fmla="val 10526"/>
            </a:avLst>
          </a:prstGeom>
          <a:solidFill>
            <a:srgbClr val="0D2B6B"/>
          </a:solidFill>
          <a:ln w="9525">
            <a:solidFill>
              <a:srgbClr val="D4A017">
                <a:alpha val="60000"/>
              </a:srgbClr>
            </a:solidFill>
            <a:prstDash val="solid"/>
          </a:ln>
        </p:spPr>
        <p:txBody>
          <a:bodyPr/>
          <a:lstStyle/>
          <a:p>
            <a:endParaRPr lang="el-GR"/>
          </a:p>
        </p:txBody>
      </p:sp>
      <p:sp>
        <p:nvSpPr>
          <p:cNvPr id="17" name="Text 15"/>
          <p:cNvSpPr/>
          <p:nvPr/>
        </p:nvSpPr>
        <p:spPr>
          <a:xfrm>
            <a:off x="8138160" y="2976372"/>
            <a:ext cx="3200400" cy="434340"/>
          </a:xfrm>
          <a:prstGeom prst="rect">
            <a:avLst/>
          </a:prstGeom>
          <a:noFill/>
          <a:ln/>
        </p:spPr>
        <p:txBody>
          <a:bodyPr wrap="square" rtlCol="0" anchor="ctr"/>
          <a:lstStyle/>
          <a:p>
            <a:pPr marL="0" indent="0" algn="ctr">
              <a:buNone/>
            </a:pPr>
            <a:r>
              <a:rPr lang="en-US" sz="1250" b="1" dirty="0">
                <a:solidFill>
                  <a:srgbClr val="E8B84B"/>
                </a:solidFill>
                <a:latin typeface="Calibri" pitchFamily="34" charset="0"/>
                <a:ea typeface="Calibri" pitchFamily="34" charset="-122"/>
                <a:cs typeface="Calibri" pitchFamily="34" charset="-120"/>
              </a:rPr>
              <a:t>Τριεπίπεδη full-stack</a:t>
            </a:r>
            <a:endParaRPr lang="en-US" sz="1250" dirty="0"/>
          </a:p>
        </p:txBody>
      </p:sp>
      <p:sp>
        <p:nvSpPr>
          <p:cNvPr id="18" name="Text 16"/>
          <p:cNvSpPr/>
          <p:nvPr/>
        </p:nvSpPr>
        <p:spPr>
          <a:xfrm>
            <a:off x="777240" y="3483864"/>
            <a:ext cx="3703320" cy="54406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Αποθήκευση</a:t>
            </a:r>
            <a:endParaRPr lang="en-US" sz="1350" dirty="0"/>
          </a:p>
        </p:txBody>
      </p:sp>
      <p:sp>
        <p:nvSpPr>
          <p:cNvPr id="19" name="Text 17"/>
          <p:cNvSpPr/>
          <p:nvPr/>
        </p:nvSpPr>
        <p:spPr>
          <a:xfrm>
            <a:off x="4617720" y="3483864"/>
            <a:ext cx="3246120" cy="544068"/>
          </a:xfrm>
          <a:prstGeom prst="rect">
            <a:avLst/>
          </a:prstGeom>
          <a:noFill/>
          <a:ln/>
        </p:spPr>
        <p:txBody>
          <a:bodyPr wrap="square" rtlCol="0" anchor="ctr"/>
          <a:lstStyle/>
          <a:p>
            <a:pPr marL="0" indent="0" algn="ctr">
              <a:buNone/>
            </a:pPr>
            <a:r>
              <a:rPr lang="en-US" sz="1250" dirty="0">
                <a:solidFill>
                  <a:srgbClr val="8A98C0"/>
                </a:solidFill>
                <a:latin typeface="Calibri" pitchFamily="34" charset="0"/>
                <a:ea typeface="Calibri" pitchFamily="34" charset="-122"/>
                <a:cs typeface="Calibri" pitchFamily="34" charset="-120"/>
              </a:rPr>
              <a:t>In-memory</a:t>
            </a:r>
            <a:endParaRPr lang="en-US" sz="1250" dirty="0"/>
          </a:p>
        </p:txBody>
      </p:sp>
      <p:sp>
        <p:nvSpPr>
          <p:cNvPr id="20" name="Shape 18"/>
          <p:cNvSpPr/>
          <p:nvPr/>
        </p:nvSpPr>
        <p:spPr>
          <a:xfrm>
            <a:off x="8092440" y="3520440"/>
            <a:ext cx="3291840" cy="434340"/>
          </a:xfrm>
          <a:prstGeom prst="roundRect">
            <a:avLst>
              <a:gd name="adj" fmla="val 10526"/>
            </a:avLst>
          </a:prstGeom>
          <a:solidFill>
            <a:srgbClr val="0D2B6B"/>
          </a:solidFill>
          <a:ln w="9525">
            <a:solidFill>
              <a:srgbClr val="D4A017">
                <a:alpha val="60000"/>
              </a:srgbClr>
            </a:solidFill>
            <a:prstDash val="solid"/>
          </a:ln>
        </p:spPr>
        <p:txBody>
          <a:bodyPr/>
          <a:lstStyle/>
          <a:p>
            <a:endParaRPr lang="el-GR"/>
          </a:p>
        </p:txBody>
      </p:sp>
      <p:sp>
        <p:nvSpPr>
          <p:cNvPr id="21" name="Text 19"/>
          <p:cNvSpPr/>
          <p:nvPr/>
        </p:nvSpPr>
        <p:spPr>
          <a:xfrm>
            <a:off x="8138160" y="3520440"/>
            <a:ext cx="3200400" cy="434340"/>
          </a:xfrm>
          <a:prstGeom prst="rect">
            <a:avLst/>
          </a:prstGeom>
          <a:noFill/>
          <a:ln/>
        </p:spPr>
        <p:txBody>
          <a:bodyPr wrap="square" rtlCol="0" anchor="ctr"/>
          <a:lstStyle/>
          <a:p>
            <a:pPr marL="0" indent="0" algn="ctr">
              <a:buNone/>
            </a:pPr>
            <a:r>
              <a:rPr lang="en-US" sz="1250" b="1" dirty="0">
                <a:solidFill>
                  <a:srgbClr val="E8B84B"/>
                </a:solidFill>
                <a:latin typeface="Calibri" pitchFamily="34" charset="0"/>
                <a:ea typeface="Calibri" pitchFamily="34" charset="-122"/>
                <a:cs typeface="Calibri" pitchFamily="34" charset="-120"/>
              </a:rPr>
              <a:t>MongoDB + Firebase</a:t>
            </a:r>
            <a:endParaRPr lang="en-US" sz="1250" dirty="0"/>
          </a:p>
        </p:txBody>
      </p:sp>
      <p:sp>
        <p:nvSpPr>
          <p:cNvPr id="22" name="Text 20"/>
          <p:cNvSpPr/>
          <p:nvPr/>
        </p:nvSpPr>
        <p:spPr>
          <a:xfrm>
            <a:off x="777240" y="4027932"/>
            <a:ext cx="3703320" cy="54406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Αυθεντικοποίηση</a:t>
            </a:r>
            <a:endParaRPr lang="en-US" sz="1350" dirty="0"/>
          </a:p>
        </p:txBody>
      </p:sp>
      <p:sp>
        <p:nvSpPr>
          <p:cNvPr id="23" name="Text 21"/>
          <p:cNvSpPr/>
          <p:nvPr/>
        </p:nvSpPr>
        <p:spPr>
          <a:xfrm>
            <a:off x="4617720" y="4027932"/>
            <a:ext cx="3246120" cy="544068"/>
          </a:xfrm>
          <a:prstGeom prst="rect">
            <a:avLst/>
          </a:prstGeom>
          <a:noFill/>
          <a:ln/>
        </p:spPr>
        <p:txBody>
          <a:bodyPr wrap="square" rtlCol="0" anchor="ctr"/>
          <a:lstStyle/>
          <a:p>
            <a:pPr marL="0" indent="0" algn="ctr">
              <a:buNone/>
            </a:pPr>
            <a:r>
              <a:rPr lang="en-US" sz="1250" dirty="0">
                <a:solidFill>
                  <a:srgbClr val="8A98C0"/>
                </a:solidFill>
                <a:latin typeface="Calibri" pitchFamily="34" charset="0"/>
                <a:ea typeface="Calibri" pitchFamily="34" charset="-122"/>
                <a:cs typeface="Calibri" pitchFamily="34" charset="-120"/>
              </a:rPr>
              <a:t>Καμία</a:t>
            </a:r>
            <a:endParaRPr lang="en-US" sz="1250" dirty="0"/>
          </a:p>
        </p:txBody>
      </p:sp>
      <p:sp>
        <p:nvSpPr>
          <p:cNvPr id="24" name="Shape 22"/>
          <p:cNvSpPr/>
          <p:nvPr/>
        </p:nvSpPr>
        <p:spPr>
          <a:xfrm>
            <a:off x="8092440" y="4064508"/>
            <a:ext cx="3291840" cy="434340"/>
          </a:xfrm>
          <a:prstGeom prst="roundRect">
            <a:avLst>
              <a:gd name="adj" fmla="val 10526"/>
            </a:avLst>
          </a:prstGeom>
          <a:solidFill>
            <a:srgbClr val="0D2B6B"/>
          </a:solidFill>
          <a:ln w="9525">
            <a:solidFill>
              <a:srgbClr val="D4A017">
                <a:alpha val="60000"/>
              </a:srgbClr>
            </a:solidFill>
            <a:prstDash val="solid"/>
          </a:ln>
        </p:spPr>
        <p:txBody>
          <a:bodyPr/>
          <a:lstStyle/>
          <a:p>
            <a:endParaRPr lang="el-GR"/>
          </a:p>
        </p:txBody>
      </p:sp>
      <p:sp>
        <p:nvSpPr>
          <p:cNvPr id="25" name="Text 23"/>
          <p:cNvSpPr/>
          <p:nvPr/>
        </p:nvSpPr>
        <p:spPr>
          <a:xfrm>
            <a:off x="8138160" y="4064508"/>
            <a:ext cx="3200400" cy="434340"/>
          </a:xfrm>
          <a:prstGeom prst="rect">
            <a:avLst/>
          </a:prstGeom>
          <a:noFill/>
          <a:ln/>
        </p:spPr>
        <p:txBody>
          <a:bodyPr wrap="square" rtlCol="0" anchor="ctr"/>
          <a:lstStyle/>
          <a:p>
            <a:pPr marL="0" indent="0" algn="ctr">
              <a:buNone/>
            </a:pPr>
            <a:r>
              <a:rPr lang="en-US" sz="1250" b="1" dirty="0">
                <a:solidFill>
                  <a:srgbClr val="E8B84B"/>
                </a:solidFill>
                <a:latin typeface="Calibri" pitchFamily="34" charset="0"/>
                <a:ea typeface="Calibri" pitchFamily="34" charset="-122"/>
                <a:cs typeface="Calibri" pitchFamily="34" charset="-120"/>
              </a:rPr>
              <a:t>JWT (bcrypt, ρόλοι)</a:t>
            </a:r>
            <a:endParaRPr lang="en-US" sz="1250" dirty="0"/>
          </a:p>
        </p:txBody>
      </p:sp>
      <p:sp>
        <p:nvSpPr>
          <p:cNvPr id="26" name="Text 24"/>
          <p:cNvSpPr/>
          <p:nvPr/>
        </p:nvSpPr>
        <p:spPr>
          <a:xfrm>
            <a:off x="777240" y="4572000"/>
            <a:ext cx="3703320" cy="54406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Διγλωσσία</a:t>
            </a:r>
            <a:endParaRPr lang="en-US" sz="1350" dirty="0"/>
          </a:p>
        </p:txBody>
      </p:sp>
      <p:sp>
        <p:nvSpPr>
          <p:cNvPr id="27" name="Text 25"/>
          <p:cNvSpPr/>
          <p:nvPr/>
        </p:nvSpPr>
        <p:spPr>
          <a:xfrm>
            <a:off x="4617720" y="4572000"/>
            <a:ext cx="3246120" cy="544068"/>
          </a:xfrm>
          <a:prstGeom prst="rect">
            <a:avLst/>
          </a:prstGeom>
          <a:noFill/>
          <a:ln/>
        </p:spPr>
        <p:txBody>
          <a:bodyPr wrap="square" rtlCol="0" anchor="ctr"/>
          <a:lstStyle/>
          <a:p>
            <a:pPr marL="0" indent="0" algn="ctr">
              <a:buNone/>
            </a:pPr>
            <a:r>
              <a:rPr lang="en-US" sz="1250" dirty="0">
                <a:solidFill>
                  <a:srgbClr val="8A98C0"/>
                </a:solidFill>
                <a:latin typeface="Calibri" pitchFamily="34" charset="0"/>
                <a:ea typeface="Calibri" pitchFamily="34" charset="-122"/>
                <a:cs typeface="Calibri" pitchFamily="34" charset="-120"/>
              </a:rPr>
              <a:t>Όχι</a:t>
            </a:r>
            <a:endParaRPr lang="en-US" sz="1250" dirty="0"/>
          </a:p>
        </p:txBody>
      </p:sp>
      <p:sp>
        <p:nvSpPr>
          <p:cNvPr id="28" name="Shape 26"/>
          <p:cNvSpPr/>
          <p:nvPr/>
        </p:nvSpPr>
        <p:spPr>
          <a:xfrm>
            <a:off x="8092440" y="4608576"/>
            <a:ext cx="3291840" cy="434340"/>
          </a:xfrm>
          <a:prstGeom prst="roundRect">
            <a:avLst>
              <a:gd name="adj" fmla="val 10526"/>
            </a:avLst>
          </a:prstGeom>
          <a:solidFill>
            <a:srgbClr val="0D2B6B"/>
          </a:solidFill>
          <a:ln w="9525">
            <a:solidFill>
              <a:srgbClr val="D4A017">
                <a:alpha val="60000"/>
              </a:srgbClr>
            </a:solidFill>
            <a:prstDash val="solid"/>
          </a:ln>
        </p:spPr>
        <p:txBody>
          <a:bodyPr/>
          <a:lstStyle/>
          <a:p>
            <a:endParaRPr lang="el-GR"/>
          </a:p>
        </p:txBody>
      </p:sp>
      <p:sp>
        <p:nvSpPr>
          <p:cNvPr id="29" name="Text 27"/>
          <p:cNvSpPr/>
          <p:nvPr/>
        </p:nvSpPr>
        <p:spPr>
          <a:xfrm>
            <a:off x="8138160" y="4608576"/>
            <a:ext cx="3200400" cy="434340"/>
          </a:xfrm>
          <a:prstGeom prst="rect">
            <a:avLst/>
          </a:prstGeom>
          <a:noFill/>
          <a:ln/>
        </p:spPr>
        <p:txBody>
          <a:bodyPr wrap="square" rtlCol="0" anchor="ctr"/>
          <a:lstStyle/>
          <a:p>
            <a:pPr marL="0" indent="0" algn="ctr">
              <a:buNone/>
            </a:pPr>
            <a:r>
              <a:rPr lang="en-US" sz="1250" b="1" dirty="0">
                <a:solidFill>
                  <a:srgbClr val="E8B84B"/>
                </a:solidFill>
                <a:latin typeface="Calibri" pitchFamily="34" charset="0"/>
                <a:ea typeface="Calibri" pitchFamily="34" charset="-122"/>
                <a:cs typeface="Calibri" pitchFamily="34" charset="-120"/>
              </a:rPr>
              <a:t>EL/EN στα δεδομένα</a:t>
            </a:r>
            <a:endParaRPr lang="en-US" sz="1250" dirty="0"/>
          </a:p>
        </p:txBody>
      </p:sp>
      <p:sp>
        <p:nvSpPr>
          <p:cNvPr id="30" name="Text 28"/>
          <p:cNvSpPr/>
          <p:nvPr/>
        </p:nvSpPr>
        <p:spPr>
          <a:xfrm>
            <a:off x="777240" y="5116068"/>
            <a:ext cx="3703320" cy="54406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Real-time</a:t>
            </a:r>
            <a:endParaRPr lang="en-US" sz="1350" dirty="0"/>
          </a:p>
        </p:txBody>
      </p:sp>
      <p:sp>
        <p:nvSpPr>
          <p:cNvPr id="31" name="Text 29"/>
          <p:cNvSpPr/>
          <p:nvPr/>
        </p:nvSpPr>
        <p:spPr>
          <a:xfrm>
            <a:off x="4617720" y="5116068"/>
            <a:ext cx="3246120" cy="544068"/>
          </a:xfrm>
          <a:prstGeom prst="rect">
            <a:avLst/>
          </a:prstGeom>
          <a:noFill/>
          <a:ln/>
        </p:spPr>
        <p:txBody>
          <a:bodyPr wrap="square" rtlCol="0" anchor="ctr"/>
          <a:lstStyle/>
          <a:p>
            <a:pPr marL="0" indent="0" algn="ctr">
              <a:buNone/>
            </a:pPr>
            <a:r>
              <a:rPr lang="en-US" sz="1250" dirty="0">
                <a:solidFill>
                  <a:srgbClr val="8A98C0"/>
                </a:solidFill>
                <a:latin typeface="Calibri" pitchFamily="34" charset="0"/>
                <a:ea typeface="Calibri" pitchFamily="34" charset="-122"/>
                <a:cs typeface="Calibri" pitchFamily="34" charset="-120"/>
              </a:rPr>
              <a:t>Όχι</a:t>
            </a:r>
            <a:endParaRPr lang="en-US" sz="1250" dirty="0"/>
          </a:p>
        </p:txBody>
      </p:sp>
      <p:sp>
        <p:nvSpPr>
          <p:cNvPr id="32" name="Shape 30"/>
          <p:cNvSpPr/>
          <p:nvPr/>
        </p:nvSpPr>
        <p:spPr>
          <a:xfrm>
            <a:off x="8092440" y="5152644"/>
            <a:ext cx="3291840" cy="434340"/>
          </a:xfrm>
          <a:prstGeom prst="roundRect">
            <a:avLst>
              <a:gd name="adj" fmla="val 10526"/>
            </a:avLst>
          </a:prstGeom>
          <a:solidFill>
            <a:srgbClr val="0D2B6B"/>
          </a:solidFill>
          <a:ln w="9525">
            <a:solidFill>
              <a:srgbClr val="D4A017">
                <a:alpha val="60000"/>
              </a:srgbClr>
            </a:solidFill>
            <a:prstDash val="solid"/>
          </a:ln>
        </p:spPr>
        <p:txBody>
          <a:bodyPr/>
          <a:lstStyle/>
          <a:p>
            <a:endParaRPr lang="el-GR"/>
          </a:p>
        </p:txBody>
      </p:sp>
      <p:sp>
        <p:nvSpPr>
          <p:cNvPr id="33" name="Text 31"/>
          <p:cNvSpPr/>
          <p:nvPr/>
        </p:nvSpPr>
        <p:spPr>
          <a:xfrm>
            <a:off x="8138160" y="5152644"/>
            <a:ext cx="3200400" cy="434340"/>
          </a:xfrm>
          <a:prstGeom prst="rect">
            <a:avLst/>
          </a:prstGeom>
          <a:noFill/>
          <a:ln/>
        </p:spPr>
        <p:txBody>
          <a:bodyPr wrap="square" rtlCol="0" anchor="ctr"/>
          <a:lstStyle/>
          <a:p>
            <a:pPr marL="0" indent="0" algn="ctr">
              <a:buNone/>
            </a:pPr>
            <a:r>
              <a:rPr lang="en-US" sz="1250" b="1" dirty="0">
                <a:solidFill>
                  <a:srgbClr val="E8B84B"/>
                </a:solidFill>
                <a:latin typeface="Calibri" pitchFamily="34" charset="0"/>
                <a:ea typeface="Calibri" pitchFamily="34" charset="-122"/>
                <a:cs typeface="Calibri" pitchFamily="34" charset="-120"/>
              </a:rPr>
              <a:t>Live chat (WebSocket)</a:t>
            </a:r>
            <a:endParaRPr lang="en-US" sz="1250" dirty="0"/>
          </a:p>
        </p:txBody>
      </p:sp>
      <p:sp>
        <p:nvSpPr>
          <p:cNvPr id="34" name="Text 32"/>
          <p:cNvSpPr/>
          <p:nvPr/>
        </p:nvSpPr>
        <p:spPr>
          <a:xfrm>
            <a:off x="777240" y="5660136"/>
            <a:ext cx="3703320" cy="54406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Διαχείριση</a:t>
            </a:r>
            <a:endParaRPr lang="en-US" sz="1350" dirty="0"/>
          </a:p>
        </p:txBody>
      </p:sp>
      <p:sp>
        <p:nvSpPr>
          <p:cNvPr id="35" name="Text 33"/>
          <p:cNvSpPr/>
          <p:nvPr/>
        </p:nvSpPr>
        <p:spPr>
          <a:xfrm>
            <a:off x="4617720" y="5660136"/>
            <a:ext cx="3246120" cy="544068"/>
          </a:xfrm>
          <a:prstGeom prst="rect">
            <a:avLst/>
          </a:prstGeom>
          <a:noFill/>
          <a:ln/>
        </p:spPr>
        <p:txBody>
          <a:bodyPr wrap="square" rtlCol="0" anchor="ctr"/>
          <a:lstStyle/>
          <a:p>
            <a:pPr marL="0" indent="0" algn="ctr">
              <a:buNone/>
            </a:pPr>
            <a:r>
              <a:rPr lang="en-US" sz="1250" dirty="0">
                <a:solidFill>
                  <a:srgbClr val="8A98C0"/>
                </a:solidFill>
                <a:latin typeface="Calibri" pitchFamily="34" charset="0"/>
                <a:ea typeface="Calibri" pitchFamily="34" charset="-122"/>
                <a:cs typeface="Calibri" pitchFamily="34" charset="-120"/>
              </a:rPr>
              <a:t>Στατικό demo</a:t>
            </a:r>
            <a:endParaRPr lang="en-US" sz="1250" dirty="0"/>
          </a:p>
        </p:txBody>
      </p:sp>
      <p:sp>
        <p:nvSpPr>
          <p:cNvPr id="36" name="Shape 34"/>
          <p:cNvSpPr/>
          <p:nvPr/>
        </p:nvSpPr>
        <p:spPr>
          <a:xfrm>
            <a:off x="8092440" y="5696712"/>
            <a:ext cx="3291840" cy="434340"/>
          </a:xfrm>
          <a:prstGeom prst="roundRect">
            <a:avLst>
              <a:gd name="adj" fmla="val 10526"/>
            </a:avLst>
          </a:prstGeom>
          <a:solidFill>
            <a:srgbClr val="0D2B6B"/>
          </a:solidFill>
          <a:ln w="9525">
            <a:solidFill>
              <a:srgbClr val="D4A017">
                <a:alpha val="60000"/>
              </a:srgbClr>
            </a:solidFill>
            <a:prstDash val="solid"/>
          </a:ln>
        </p:spPr>
        <p:txBody>
          <a:bodyPr/>
          <a:lstStyle/>
          <a:p>
            <a:endParaRPr lang="el-GR"/>
          </a:p>
        </p:txBody>
      </p:sp>
      <p:sp>
        <p:nvSpPr>
          <p:cNvPr id="37" name="Text 35"/>
          <p:cNvSpPr/>
          <p:nvPr/>
        </p:nvSpPr>
        <p:spPr>
          <a:xfrm>
            <a:off x="8138160" y="5696712"/>
            <a:ext cx="3200400" cy="434340"/>
          </a:xfrm>
          <a:prstGeom prst="rect">
            <a:avLst/>
          </a:prstGeom>
          <a:noFill/>
          <a:ln/>
        </p:spPr>
        <p:txBody>
          <a:bodyPr wrap="square" rtlCol="0" anchor="ctr"/>
          <a:lstStyle/>
          <a:p>
            <a:pPr marL="0" indent="0" algn="ctr">
              <a:buNone/>
            </a:pPr>
            <a:r>
              <a:rPr lang="en-US" sz="1250" b="1" dirty="0">
                <a:solidFill>
                  <a:srgbClr val="E8B84B"/>
                </a:solidFill>
                <a:latin typeface="Calibri" pitchFamily="34" charset="0"/>
                <a:ea typeface="Calibri" pitchFamily="34" charset="-122"/>
                <a:cs typeface="Calibri" pitchFamily="34" charset="-120"/>
              </a:rPr>
              <a:t>CMS — 17 οθόνες</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777240" y="502920"/>
            <a:ext cx="9144000" cy="320040"/>
          </a:xfrm>
          <a:prstGeom prst="rect">
            <a:avLst/>
          </a:prstGeom>
          <a:noFill/>
          <a:ln/>
        </p:spPr>
        <p:txBody>
          <a:bodyPr wrap="square" rtlCol="0" anchor="ctr"/>
          <a:lstStyle/>
          <a:p>
            <a:pPr marL="0" indent="0">
              <a:buNone/>
            </a:pPr>
            <a:r>
              <a:rPr lang="en-US" sz="1300" b="1" kern="0" spc="300" dirty="0">
                <a:solidFill>
                  <a:srgbClr val="D4A017"/>
                </a:solidFill>
                <a:latin typeface="Calibri" pitchFamily="34" charset="0"/>
                <a:ea typeface="Calibri" pitchFamily="34" charset="-122"/>
                <a:cs typeface="Calibri" pitchFamily="34" charset="-120"/>
              </a:rPr>
              <a:t>ΠΟΙΟΤΗΤΑ</a:t>
            </a:r>
            <a:endParaRPr lang="en-US" sz="1300" dirty="0"/>
          </a:p>
        </p:txBody>
      </p:sp>
      <p:sp>
        <p:nvSpPr>
          <p:cNvPr id="3" name="Text 1"/>
          <p:cNvSpPr/>
          <p:nvPr/>
        </p:nvSpPr>
        <p:spPr>
          <a:xfrm>
            <a:off x="749808" y="768096"/>
            <a:ext cx="10607040" cy="868680"/>
          </a:xfrm>
          <a:prstGeom prst="rect">
            <a:avLst/>
          </a:prstGeom>
          <a:noFill/>
          <a:ln/>
        </p:spPr>
        <p:txBody>
          <a:bodyPr wrap="square" lIns="0" tIns="0" rIns="0" bIns="0" rtlCol="0" anchor="ctr"/>
          <a:lstStyle/>
          <a:p>
            <a:pPr marL="0" indent="0">
              <a:buNone/>
            </a:pPr>
            <a:r>
              <a:rPr lang="en-US" sz="3300" b="1" dirty="0">
                <a:solidFill>
                  <a:srgbClr val="0D2B6B"/>
                </a:solidFill>
                <a:latin typeface="Cambria" pitchFamily="34" charset="0"/>
                <a:ea typeface="Cambria" pitchFamily="34" charset="-122"/>
                <a:cs typeface="Cambria" pitchFamily="34" charset="-120"/>
              </a:rPr>
              <a:t>Διαδικασίες testing</a:t>
            </a:r>
            <a:endParaRPr lang="en-US" sz="3300" dirty="0"/>
          </a:p>
        </p:txBody>
      </p:sp>
      <p:sp>
        <p:nvSpPr>
          <p:cNvPr id="4" name="Text 2"/>
          <p:cNvSpPr/>
          <p:nvPr/>
        </p:nvSpPr>
        <p:spPr>
          <a:xfrm>
            <a:off x="777240" y="6437376"/>
            <a:ext cx="6400800" cy="274320"/>
          </a:xfrm>
          <a:prstGeom prst="rect">
            <a:avLst/>
          </a:prstGeom>
          <a:noFill/>
          <a:ln/>
        </p:spPr>
        <p:txBody>
          <a:bodyPr wrap="square" rtlCol="0" anchor="ctr"/>
          <a:lstStyle/>
          <a:p>
            <a:pPr marL="0" indent="0">
              <a:buNone/>
            </a:pPr>
            <a:r>
              <a:rPr lang="en-US" sz="950" dirty="0">
                <a:solidFill>
                  <a:srgbClr val="74809A"/>
                </a:solidFill>
                <a:latin typeface="Calibri" pitchFamily="34" charset="0"/>
                <a:ea typeface="Calibri" pitchFamily="34" charset="-122"/>
                <a:cs typeface="Calibri" pitchFamily="34" charset="-120"/>
              </a:rPr>
              <a:t>UoWM Library — Τεχνολογία Λογισμικού</a:t>
            </a:r>
            <a:endParaRPr lang="en-US" sz="950" dirty="0"/>
          </a:p>
        </p:txBody>
      </p:sp>
      <p:sp>
        <p:nvSpPr>
          <p:cNvPr id="5" name="Text 3"/>
          <p:cNvSpPr/>
          <p:nvPr/>
        </p:nvSpPr>
        <p:spPr>
          <a:xfrm>
            <a:off x="10972800" y="6437376"/>
            <a:ext cx="457200" cy="274320"/>
          </a:xfrm>
          <a:prstGeom prst="rect">
            <a:avLst/>
          </a:prstGeom>
          <a:noFill/>
          <a:ln/>
        </p:spPr>
        <p:txBody>
          <a:bodyPr wrap="square" rtlCol="0" anchor="ctr"/>
          <a:lstStyle/>
          <a:p>
            <a:pPr marL="0" indent="0" algn="r">
              <a:buNone/>
            </a:pPr>
            <a:r>
              <a:rPr lang="en-US" sz="950" dirty="0">
                <a:solidFill>
                  <a:srgbClr val="74809A"/>
                </a:solidFill>
                <a:latin typeface="Calibri" pitchFamily="34" charset="0"/>
                <a:ea typeface="Calibri" pitchFamily="34" charset="-122"/>
                <a:cs typeface="Calibri" pitchFamily="34" charset="-120"/>
              </a:rPr>
              <a:t>11</a:t>
            </a:r>
            <a:endParaRPr lang="en-US" sz="950" dirty="0"/>
          </a:p>
        </p:txBody>
      </p:sp>
      <p:sp>
        <p:nvSpPr>
          <p:cNvPr id="6" name="Shape 4"/>
          <p:cNvSpPr/>
          <p:nvPr/>
        </p:nvSpPr>
        <p:spPr>
          <a:xfrm>
            <a:off x="777240" y="1828800"/>
            <a:ext cx="5257800" cy="4023360"/>
          </a:xfrm>
          <a:prstGeom prst="roundRect">
            <a:avLst>
              <a:gd name="adj" fmla="val 2045"/>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7" name="Shape 5"/>
          <p:cNvSpPr/>
          <p:nvPr/>
        </p:nvSpPr>
        <p:spPr>
          <a:xfrm>
            <a:off x="1097280" y="2121408"/>
            <a:ext cx="777240" cy="777240"/>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8" name="Image 0" descr="preencoded.png"/>
          <p:cNvPicPr>
            <a:picLocks noChangeAspect="1"/>
          </p:cNvPicPr>
          <p:nvPr/>
        </p:nvPicPr>
        <p:blipFill>
          <a:blip r:embed="rId3"/>
          <a:stretch>
            <a:fillRect/>
          </a:stretch>
        </p:blipFill>
        <p:spPr>
          <a:xfrm>
            <a:off x="1307135" y="2331263"/>
            <a:ext cx="357530" cy="357530"/>
          </a:xfrm>
          <a:prstGeom prst="rect">
            <a:avLst/>
          </a:prstGeom>
        </p:spPr>
      </p:pic>
      <p:sp>
        <p:nvSpPr>
          <p:cNvPr id="9" name="Text 6"/>
          <p:cNvSpPr/>
          <p:nvPr/>
        </p:nvSpPr>
        <p:spPr>
          <a:xfrm>
            <a:off x="2057400" y="2240280"/>
            <a:ext cx="3657600" cy="548640"/>
          </a:xfrm>
          <a:prstGeom prst="rect">
            <a:avLst/>
          </a:prstGeom>
          <a:noFill/>
          <a:ln/>
        </p:spPr>
        <p:txBody>
          <a:bodyPr wrap="square" rtlCol="0" anchor="ctr"/>
          <a:lstStyle/>
          <a:p>
            <a:pPr marL="0" indent="0">
              <a:buNone/>
            </a:pPr>
            <a:r>
              <a:rPr lang="en-US" sz="1900" b="1" dirty="0">
                <a:solidFill>
                  <a:srgbClr val="0D2B6B"/>
                </a:solidFill>
                <a:latin typeface="Calibri" pitchFamily="34" charset="0"/>
                <a:ea typeface="Calibri" pitchFamily="34" charset="-122"/>
                <a:cs typeface="Calibri" pitchFamily="34" charset="-120"/>
              </a:rPr>
              <a:t>Frontend (Flutter)</a:t>
            </a:r>
            <a:endParaRPr lang="en-US" sz="1900" dirty="0"/>
          </a:p>
        </p:txBody>
      </p:sp>
      <p:sp>
        <p:nvSpPr>
          <p:cNvPr id="10" name="Text 7"/>
          <p:cNvSpPr/>
          <p:nvPr/>
        </p:nvSpPr>
        <p:spPr>
          <a:xfrm>
            <a:off x="1188720" y="3154680"/>
            <a:ext cx="4572000" cy="2377440"/>
          </a:xfrm>
          <a:prstGeom prst="rect">
            <a:avLst/>
          </a:prstGeom>
          <a:noFill/>
          <a:ln/>
        </p:spPr>
        <p:txBody>
          <a:bodyPr wrap="square" rtlCol="0" anchor="ctr"/>
          <a:lstStyle/>
          <a:p>
            <a:pPr marL="342900" indent="-342900">
              <a:lnSpc>
                <a:spcPct val="105000"/>
              </a:lnSpc>
              <a:spcAft>
                <a:spcPts val="1000"/>
              </a:spcAft>
              <a:buSzPct val="100000"/>
              <a:buChar char="•"/>
            </a:pPr>
            <a:r>
              <a:rPr lang="en-US" sz="1400" dirty="0">
                <a:solidFill>
                  <a:srgbClr val="35415C"/>
                </a:solidFill>
                <a:latin typeface="Calibri" pitchFamily="34" charset="0"/>
                <a:ea typeface="Calibri" pitchFamily="34" charset="-122"/>
                <a:cs typeface="Calibri" pitchFamily="34" charset="-120"/>
              </a:rPr>
              <a:t>Widget tests και στις δύο εφαρμογές</a:t>
            </a:r>
            <a:endParaRPr lang="en-US" sz="1400" dirty="0"/>
          </a:p>
          <a:p>
            <a:pPr marL="342900" indent="-342900">
              <a:lnSpc>
                <a:spcPct val="105000"/>
              </a:lnSpc>
              <a:spcAft>
                <a:spcPts val="1000"/>
              </a:spcAft>
              <a:buSzPct val="100000"/>
              <a:buChar char="•"/>
            </a:pPr>
            <a:r>
              <a:rPr lang="en-US" sz="1400" dirty="0">
                <a:solidFill>
                  <a:srgbClr val="35415C"/>
                </a:solidFill>
                <a:latin typeface="Calibri" pitchFamily="34" charset="0"/>
                <a:ea typeface="Calibri" pitchFamily="34" charset="-122"/>
                <a:cs typeface="Calibri" pitchFamily="34" charset="-120"/>
              </a:rPr>
              <a:t>Έλεγχος ροών: γλώσσα, θέμα, σελιδοποίηση</a:t>
            </a:r>
            <a:endParaRPr lang="en-US" sz="1400" dirty="0"/>
          </a:p>
          <a:p>
            <a:pPr marL="342900" indent="-342900">
              <a:lnSpc>
                <a:spcPct val="105000"/>
              </a:lnSpc>
              <a:spcAft>
                <a:spcPts val="1000"/>
              </a:spcAft>
              <a:buSzPct val="100000"/>
              <a:buChar char="•"/>
            </a:pPr>
            <a:r>
              <a:rPr lang="en-US" sz="1400" dirty="0">
                <a:solidFill>
                  <a:srgbClr val="35415C"/>
                </a:solidFill>
                <a:latin typeface="Calibri" pitchFamily="34" charset="0"/>
                <a:ea typeface="Calibri" pitchFamily="34" charset="-122"/>
                <a:cs typeface="Calibri" pitchFamily="34" charset="-120"/>
              </a:rPr>
              <a:t>Χειροκίνητος/integration έλεγχος φορμών &amp; chat</a:t>
            </a:r>
            <a:endParaRPr lang="en-US" sz="1400" dirty="0"/>
          </a:p>
        </p:txBody>
      </p:sp>
      <p:sp>
        <p:nvSpPr>
          <p:cNvPr id="11" name="Shape 8"/>
          <p:cNvSpPr/>
          <p:nvPr/>
        </p:nvSpPr>
        <p:spPr>
          <a:xfrm>
            <a:off x="6126480" y="1828800"/>
            <a:ext cx="5257800" cy="4023360"/>
          </a:xfrm>
          <a:prstGeom prst="roundRect">
            <a:avLst>
              <a:gd name="adj" fmla="val 2045"/>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12" name="Shape 9"/>
          <p:cNvSpPr/>
          <p:nvPr/>
        </p:nvSpPr>
        <p:spPr>
          <a:xfrm>
            <a:off x="6446520" y="2121408"/>
            <a:ext cx="777240" cy="777240"/>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13" name="Image 1" descr="preencoded.png"/>
          <p:cNvPicPr>
            <a:picLocks noChangeAspect="1"/>
          </p:cNvPicPr>
          <p:nvPr/>
        </p:nvPicPr>
        <p:blipFill>
          <a:blip r:embed="rId4"/>
          <a:stretch>
            <a:fillRect/>
          </a:stretch>
        </p:blipFill>
        <p:spPr>
          <a:xfrm>
            <a:off x="6656375" y="2331263"/>
            <a:ext cx="357530" cy="357530"/>
          </a:xfrm>
          <a:prstGeom prst="rect">
            <a:avLst/>
          </a:prstGeom>
        </p:spPr>
      </p:pic>
      <p:sp>
        <p:nvSpPr>
          <p:cNvPr id="14" name="Text 10"/>
          <p:cNvSpPr/>
          <p:nvPr/>
        </p:nvSpPr>
        <p:spPr>
          <a:xfrm>
            <a:off x="7406640" y="2240280"/>
            <a:ext cx="3657600" cy="548640"/>
          </a:xfrm>
          <a:prstGeom prst="rect">
            <a:avLst/>
          </a:prstGeom>
          <a:noFill/>
          <a:ln/>
        </p:spPr>
        <p:txBody>
          <a:bodyPr wrap="square" rtlCol="0" anchor="ctr"/>
          <a:lstStyle/>
          <a:p>
            <a:pPr marL="0" indent="0">
              <a:buNone/>
            </a:pPr>
            <a:r>
              <a:rPr lang="en-US" sz="1900" b="1" dirty="0">
                <a:solidFill>
                  <a:srgbClr val="0D2B6B"/>
                </a:solidFill>
                <a:latin typeface="Calibri" pitchFamily="34" charset="0"/>
                <a:ea typeface="Calibri" pitchFamily="34" charset="-122"/>
                <a:cs typeface="Calibri" pitchFamily="34" charset="-120"/>
              </a:rPr>
              <a:t>Backend (FastAPI)</a:t>
            </a:r>
            <a:endParaRPr lang="en-US" sz="1900" dirty="0"/>
          </a:p>
        </p:txBody>
      </p:sp>
      <p:sp>
        <p:nvSpPr>
          <p:cNvPr id="15" name="Text 11"/>
          <p:cNvSpPr/>
          <p:nvPr/>
        </p:nvSpPr>
        <p:spPr>
          <a:xfrm>
            <a:off x="6537960" y="3154680"/>
            <a:ext cx="4572000" cy="2377440"/>
          </a:xfrm>
          <a:prstGeom prst="rect">
            <a:avLst/>
          </a:prstGeom>
          <a:noFill/>
          <a:ln/>
        </p:spPr>
        <p:txBody>
          <a:bodyPr wrap="square" rtlCol="0" anchor="ctr"/>
          <a:lstStyle/>
          <a:p>
            <a:pPr marL="342900" indent="-342900">
              <a:lnSpc>
                <a:spcPct val="105000"/>
              </a:lnSpc>
              <a:spcAft>
                <a:spcPts val="1000"/>
              </a:spcAft>
              <a:buSzPct val="100000"/>
              <a:buChar char="•"/>
            </a:pPr>
            <a:r>
              <a:rPr lang="en-US" sz="1400" dirty="0">
                <a:solidFill>
                  <a:srgbClr val="35415C"/>
                </a:solidFill>
                <a:latin typeface="Calibri" pitchFamily="34" charset="0"/>
                <a:ea typeface="Calibri" pitchFamily="34" charset="-122"/>
                <a:cs typeface="Calibri" pitchFamily="34" charset="-120"/>
              </a:rPr>
              <a:t>Έλεγχος endpoints μέσω Swagger UI (/docs)</a:t>
            </a:r>
            <a:endParaRPr lang="en-US" sz="1400" dirty="0"/>
          </a:p>
          <a:p>
            <a:pPr marL="342900" indent="-342900">
              <a:lnSpc>
                <a:spcPct val="105000"/>
              </a:lnSpc>
              <a:spcAft>
                <a:spcPts val="1000"/>
              </a:spcAft>
              <a:buSzPct val="100000"/>
              <a:buChar char="•"/>
            </a:pPr>
            <a:r>
              <a:rPr lang="en-US" sz="1400" dirty="0">
                <a:solidFill>
                  <a:srgbClr val="35415C"/>
                </a:solidFill>
                <a:latin typeface="Calibri" pitchFamily="34" charset="0"/>
                <a:ea typeface="Calibri" pitchFamily="34" charset="-122"/>
                <a:cs typeface="Calibri" pitchFamily="34" charset="-120"/>
              </a:rPr>
              <a:t>Επαλήθευση auth: 401/403 χωρίς token</a:t>
            </a:r>
            <a:endParaRPr lang="en-US" sz="1400" dirty="0"/>
          </a:p>
          <a:p>
            <a:pPr marL="342900" indent="-342900">
              <a:lnSpc>
                <a:spcPct val="105000"/>
              </a:lnSpc>
              <a:spcAft>
                <a:spcPts val="1000"/>
              </a:spcAft>
              <a:buSzPct val="100000"/>
              <a:buChar char="•"/>
            </a:pPr>
            <a:r>
              <a:rPr lang="en-US" sz="1400" dirty="0">
                <a:solidFill>
                  <a:srgbClr val="35415C"/>
                </a:solidFill>
                <a:latin typeface="Calibri" pitchFamily="34" charset="0"/>
                <a:ea typeface="Calibri" pitchFamily="34" charset="-122"/>
                <a:cs typeface="Calibri" pitchFamily="34" charset="-120"/>
              </a:rPr>
              <a:t>Bug reproduction πριν τη διόρθωση (CORS, URL)</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777240" y="502920"/>
            <a:ext cx="9144000" cy="320040"/>
          </a:xfrm>
          <a:prstGeom prst="rect">
            <a:avLst/>
          </a:prstGeom>
          <a:noFill/>
          <a:ln/>
        </p:spPr>
        <p:txBody>
          <a:bodyPr wrap="square" rtlCol="0" anchor="ctr"/>
          <a:lstStyle/>
          <a:p>
            <a:pPr marL="0" indent="0">
              <a:buNone/>
            </a:pPr>
            <a:r>
              <a:rPr lang="en-US" sz="1300" b="1" kern="0" spc="300" dirty="0">
                <a:solidFill>
                  <a:srgbClr val="D4A017"/>
                </a:solidFill>
                <a:latin typeface="Calibri" pitchFamily="34" charset="0"/>
                <a:ea typeface="Calibri" pitchFamily="34" charset="-122"/>
                <a:cs typeface="Calibri" pitchFamily="34" charset="-120"/>
              </a:rPr>
              <a:t>ΕΜΠΕΙΡΙΑ</a:t>
            </a:r>
            <a:endParaRPr lang="en-US" sz="1300" dirty="0"/>
          </a:p>
        </p:txBody>
      </p:sp>
      <p:sp>
        <p:nvSpPr>
          <p:cNvPr id="3" name="Text 1"/>
          <p:cNvSpPr/>
          <p:nvPr/>
        </p:nvSpPr>
        <p:spPr>
          <a:xfrm>
            <a:off x="749808" y="768096"/>
            <a:ext cx="10607040" cy="868680"/>
          </a:xfrm>
          <a:prstGeom prst="rect">
            <a:avLst/>
          </a:prstGeom>
          <a:noFill/>
          <a:ln/>
        </p:spPr>
        <p:txBody>
          <a:bodyPr wrap="square" lIns="0" tIns="0" rIns="0" bIns="0" rtlCol="0" anchor="ctr"/>
          <a:lstStyle/>
          <a:p>
            <a:pPr marL="0" indent="0">
              <a:buNone/>
            </a:pPr>
            <a:r>
              <a:rPr lang="en-US" sz="3300" b="1" dirty="0">
                <a:solidFill>
                  <a:srgbClr val="0D2B6B"/>
                </a:solidFill>
                <a:latin typeface="Cambria" pitchFamily="34" charset="0"/>
                <a:ea typeface="Cambria" pitchFamily="34" charset="-122"/>
                <a:cs typeface="Cambria" pitchFamily="34" charset="-120"/>
              </a:rPr>
              <a:t>Δυσκολίες &amp; συμπεράσματα</a:t>
            </a:r>
            <a:endParaRPr lang="en-US" sz="3300" dirty="0"/>
          </a:p>
        </p:txBody>
      </p:sp>
      <p:sp>
        <p:nvSpPr>
          <p:cNvPr id="4" name="Text 2"/>
          <p:cNvSpPr/>
          <p:nvPr/>
        </p:nvSpPr>
        <p:spPr>
          <a:xfrm>
            <a:off x="777240" y="6437376"/>
            <a:ext cx="6400800" cy="274320"/>
          </a:xfrm>
          <a:prstGeom prst="rect">
            <a:avLst/>
          </a:prstGeom>
          <a:noFill/>
          <a:ln/>
        </p:spPr>
        <p:txBody>
          <a:bodyPr wrap="square" rtlCol="0" anchor="ctr"/>
          <a:lstStyle/>
          <a:p>
            <a:pPr marL="0" indent="0">
              <a:buNone/>
            </a:pPr>
            <a:r>
              <a:rPr lang="en-US" sz="950" dirty="0">
                <a:solidFill>
                  <a:srgbClr val="74809A"/>
                </a:solidFill>
                <a:latin typeface="Calibri" pitchFamily="34" charset="0"/>
                <a:ea typeface="Calibri" pitchFamily="34" charset="-122"/>
                <a:cs typeface="Calibri" pitchFamily="34" charset="-120"/>
              </a:rPr>
              <a:t>UoWM Library — Τεχνολογία Λογισμικού</a:t>
            </a:r>
            <a:endParaRPr lang="en-US" sz="950" dirty="0"/>
          </a:p>
        </p:txBody>
      </p:sp>
      <p:sp>
        <p:nvSpPr>
          <p:cNvPr id="5" name="Text 3"/>
          <p:cNvSpPr/>
          <p:nvPr/>
        </p:nvSpPr>
        <p:spPr>
          <a:xfrm>
            <a:off x="10972800" y="6437376"/>
            <a:ext cx="457200" cy="274320"/>
          </a:xfrm>
          <a:prstGeom prst="rect">
            <a:avLst/>
          </a:prstGeom>
          <a:noFill/>
          <a:ln/>
        </p:spPr>
        <p:txBody>
          <a:bodyPr wrap="square" rtlCol="0" anchor="ctr"/>
          <a:lstStyle/>
          <a:p>
            <a:pPr marL="0" indent="0" algn="r">
              <a:buNone/>
            </a:pPr>
            <a:r>
              <a:rPr lang="en-US" sz="950" dirty="0">
                <a:solidFill>
                  <a:srgbClr val="74809A"/>
                </a:solidFill>
                <a:latin typeface="Calibri" pitchFamily="34" charset="0"/>
                <a:ea typeface="Calibri" pitchFamily="34" charset="-122"/>
                <a:cs typeface="Calibri" pitchFamily="34" charset="-120"/>
              </a:rPr>
              <a:t>12</a:t>
            </a:r>
            <a:endParaRPr lang="en-US" sz="950" dirty="0"/>
          </a:p>
        </p:txBody>
      </p:sp>
      <p:sp>
        <p:nvSpPr>
          <p:cNvPr id="6" name="Shape 4"/>
          <p:cNvSpPr/>
          <p:nvPr/>
        </p:nvSpPr>
        <p:spPr>
          <a:xfrm>
            <a:off x="777240" y="1828800"/>
            <a:ext cx="5257800" cy="4069080"/>
          </a:xfrm>
          <a:prstGeom prst="roundRect">
            <a:avLst>
              <a:gd name="adj" fmla="val 2022"/>
            </a:avLst>
          </a:prstGeom>
          <a:solidFill>
            <a:srgbClr val="FFFFFF"/>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7" name="Shape 5"/>
          <p:cNvSpPr/>
          <p:nvPr/>
        </p:nvSpPr>
        <p:spPr>
          <a:xfrm>
            <a:off x="1051560" y="2103120"/>
            <a:ext cx="731520" cy="731520"/>
          </a:xfrm>
          <a:prstGeom prst="ellipse">
            <a:avLst/>
          </a:prstGeom>
          <a:solidFill>
            <a:srgbClr val="D4A017"/>
          </a:solidFill>
          <a:ln/>
          <a:effectLst>
            <a:outerShdw blurRad="88900" dist="25400" dir="2700000" algn="bl" rotWithShape="0">
              <a:srgbClr val="0A1430">
                <a:alpha val="18000"/>
              </a:srgbClr>
            </a:outerShdw>
          </a:effectLst>
        </p:spPr>
        <p:txBody>
          <a:bodyPr/>
          <a:lstStyle/>
          <a:p>
            <a:endParaRPr lang="el-GR"/>
          </a:p>
        </p:txBody>
      </p:sp>
      <p:pic>
        <p:nvPicPr>
          <p:cNvPr id="8" name="Image 0" descr="preencoded.png"/>
          <p:cNvPicPr>
            <a:picLocks noChangeAspect="1"/>
          </p:cNvPicPr>
          <p:nvPr/>
        </p:nvPicPr>
        <p:blipFill>
          <a:blip r:embed="rId3"/>
          <a:stretch>
            <a:fillRect/>
          </a:stretch>
        </p:blipFill>
        <p:spPr>
          <a:xfrm>
            <a:off x="1249070" y="2300630"/>
            <a:ext cx="336499" cy="336499"/>
          </a:xfrm>
          <a:prstGeom prst="rect">
            <a:avLst/>
          </a:prstGeom>
        </p:spPr>
      </p:pic>
      <p:sp>
        <p:nvSpPr>
          <p:cNvPr id="9" name="Text 6"/>
          <p:cNvSpPr/>
          <p:nvPr/>
        </p:nvSpPr>
        <p:spPr>
          <a:xfrm>
            <a:off x="1965960" y="2212848"/>
            <a:ext cx="3657600" cy="502920"/>
          </a:xfrm>
          <a:prstGeom prst="rect">
            <a:avLst/>
          </a:prstGeom>
          <a:noFill/>
          <a:ln/>
        </p:spPr>
        <p:txBody>
          <a:bodyPr wrap="square" rtlCol="0" anchor="ctr"/>
          <a:lstStyle/>
          <a:p>
            <a:pPr marL="0" indent="0">
              <a:buNone/>
            </a:pPr>
            <a:r>
              <a:rPr lang="en-US" sz="1900" b="1" dirty="0">
                <a:solidFill>
                  <a:srgbClr val="0D2B6B"/>
                </a:solidFill>
                <a:latin typeface="Calibri" pitchFamily="34" charset="0"/>
                <a:ea typeface="Calibri" pitchFamily="34" charset="-122"/>
                <a:cs typeface="Calibri" pitchFamily="34" charset="-120"/>
              </a:rPr>
              <a:t>Δυσκολίες</a:t>
            </a:r>
            <a:endParaRPr lang="en-US" sz="1900" dirty="0"/>
          </a:p>
        </p:txBody>
      </p:sp>
      <p:sp>
        <p:nvSpPr>
          <p:cNvPr id="10" name="Text 7"/>
          <p:cNvSpPr/>
          <p:nvPr/>
        </p:nvSpPr>
        <p:spPr>
          <a:xfrm>
            <a:off x="1143000" y="3108960"/>
            <a:ext cx="4663440" cy="2651760"/>
          </a:xfrm>
          <a:prstGeom prst="rect">
            <a:avLst/>
          </a:prstGeom>
          <a:noFill/>
          <a:ln/>
        </p:spPr>
        <p:txBody>
          <a:bodyPr wrap="square" rtlCol="0" anchor="ctr"/>
          <a:lstStyle/>
          <a:p>
            <a:pPr marL="342900" indent="-342900">
              <a:lnSpc>
                <a:spcPct val="105000"/>
              </a:lnSpc>
              <a:spcAft>
                <a:spcPts val="900"/>
              </a:spcAft>
              <a:buSzPct val="100000"/>
              <a:buChar char="•"/>
            </a:pPr>
            <a:r>
              <a:rPr lang="en-US" sz="1350" dirty="0">
                <a:solidFill>
                  <a:srgbClr val="35415C"/>
                </a:solidFill>
                <a:latin typeface="Calibri" pitchFamily="34" charset="0"/>
                <a:ea typeface="Calibri" pitchFamily="34" charset="-122"/>
                <a:cs typeface="Calibri" pitchFamily="34" charset="-120"/>
              </a:rPr>
              <a:t>Διγλωσσία στα δεδομένα (μοντέλο BiText)</a:t>
            </a:r>
            <a:endParaRPr lang="en-US" sz="1350" dirty="0"/>
          </a:p>
          <a:p>
            <a:pPr marL="342900" indent="-342900">
              <a:lnSpc>
                <a:spcPct val="105000"/>
              </a:lnSpc>
              <a:spcAft>
                <a:spcPts val="900"/>
              </a:spcAft>
              <a:buSzPct val="100000"/>
              <a:buChar char="•"/>
            </a:pPr>
            <a:r>
              <a:rPr lang="en-US" sz="1350" dirty="0">
                <a:solidFill>
                  <a:srgbClr val="35415C"/>
                </a:solidFill>
                <a:latin typeface="Calibri" pitchFamily="34" charset="0"/>
                <a:ea typeface="Calibri" pitchFamily="34" charset="-122"/>
                <a:cs typeface="Calibri" pitchFamily="34" charset="-120"/>
              </a:rPr>
              <a:t>Πολλαπλές ταυτόχρονες WebSocket συνεδρίες</a:t>
            </a:r>
            <a:endParaRPr lang="en-US" sz="1350" dirty="0"/>
          </a:p>
          <a:p>
            <a:pPr marL="342900" indent="-342900">
              <a:lnSpc>
                <a:spcPct val="105000"/>
              </a:lnSpc>
              <a:spcAft>
                <a:spcPts val="900"/>
              </a:spcAft>
              <a:buSzPct val="100000"/>
              <a:buChar char="•"/>
            </a:pPr>
            <a:r>
              <a:rPr lang="en-US" sz="1350" dirty="0">
                <a:solidFill>
                  <a:srgbClr val="35415C"/>
                </a:solidFill>
                <a:latin typeface="Calibri" pitchFamily="34" charset="0"/>
                <a:ea typeface="Calibri" pitchFamily="34" charset="-122"/>
                <a:cs typeface="Calibri" pitchFamily="34" charset="-120"/>
              </a:rPr>
              <a:t>Ασφαλές JWT + προστασία μόνο των γραφών</a:t>
            </a:r>
            <a:endParaRPr lang="en-US" sz="1350" dirty="0"/>
          </a:p>
          <a:p>
            <a:pPr marL="342900" indent="-342900">
              <a:lnSpc>
                <a:spcPct val="105000"/>
              </a:lnSpc>
              <a:spcAft>
                <a:spcPts val="900"/>
              </a:spcAft>
              <a:buSzPct val="100000"/>
              <a:buChar char="•"/>
            </a:pPr>
            <a:r>
              <a:rPr lang="en-US" sz="1350" dirty="0">
                <a:solidFill>
                  <a:srgbClr val="35415C"/>
                </a:solidFill>
                <a:latin typeface="Calibri" pitchFamily="34" charset="0"/>
                <a:ea typeface="Calibri" pitchFamily="34" charset="-122"/>
                <a:cs typeface="Calibri" pitchFamily="34" charset="-120"/>
              </a:rPr>
              <a:t>CORS &amp; ευθυγράμμιση base URL</a:t>
            </a:r>
            <a:endParaRPr lang="en-US" sz="1350" dirty="0"/>
          </a:p>
          <a:p>
            <a:pPr marL="342900" indent="-342900">
              <a:lnSpc>
                <a:spcPct val="105000"/>
              </a:lnSpc>
              <a:spcAft>
                <a:spcPts val="900"/>
              </a:spcAft>
              <a:buSzPct val="100000"/>
              <a:buChar char="•"/>
            </a:pPr>
            <a:r>
              <a:rPr lang="en-US" sz="1350" dirty="0">
                <a:solidFill>
                  <a:srgbClr val="35415C"/>
                </a:solidFill>
                <a:latin typeface="Calibri" pitchFamily="34" charset="0"/>
                <a:ea typeface="Calibri" pitchFamily="34" charset="-122"/>
                <a:cs typeface="Calibri" pitchFamily="34" charset="-120"/>
              </a:rPr>
              <a:t>Μετάβαση από τον αρχικό σχεδιασμό (Koha)</a:t>
            </a:r>
            <a:endParaRPr lang="en-US" sz="1350" dirty="0"/>
          </a:p>
        </p:txBody>
      </p:sp>
      <p:sp>
        <p:nvSpPr>
          <p:cNvPr id="11" name="Shape 8"/>
          <p:cNvSpPr/>
          <p:nvPr/>
        </p:nvSpPr>
        <p:spPr>
          <a:xfrm>
            <a:off x="6126480" y="1828800"/>
            <a:ext cx="5257800" cy="4069080"/>
          </a:xfrm>
          <a:prstGeom prst="roundRect">
            <a:avLst>
              <a:gd name="adj" fmla="val 2022"/>
            </a:avLst>
          </a:prstGeom>
          <a:solidFill>
            <a:srgbClr val="EAF0FB"/>
          </a:solidFill>
          <a:ln w="12700">
            <a:solidFill>
              <a:srgbClr val="DCE3F2"/>
            </a:solidFill>
            <a:prstDash val="solid"/>
          </a:ln>
          <a:effectLst>
            <a:outerShdw blurRad="101600" dist="25400" dir="2700000" algn="bl" rotWithShape="0">
              <a:srgbClr val="0A1430">
                <a:alpha val="10000"/>
              </a:srgbClr>
            </a:outerShdw>
          </a:effectLst>
        </p:spPr>
        <p:txBody>
          <a:bodyPr/>
          <a:lstStyle/>
          <a:p>
            <a:endParaRPr lang="el-GR"/>
          </a:p>
        </p:txBody>
      </p:sp>
      <p:sp>
        <p:nvSpPr>
          <p:cNvPr id="12" name="Shape 9"/>
          <p:cNvSpPr/>
          <p:nvPr/>
        </p:nvSpPr>
        <p:spPr>
          <a:xfrm>
            <a:off x="6400800" y="2103120"/>
            <a:ext cx="731520" cy="731520"/>
          </a:xfrm>
          <a:prstGeom prst="ellipse">
            <a:avLst/>
          </a:prstGeom>
          <a:solidFill>
            <a:srgbClr val="0D2B6B"/>
          </a:solidFill>
          <a:ln/>
          <a:effectLst>
            <a:outerShdw blurRad="88900" dist="25400" dir="2700000" algn="bl" rotWithShape="0">
              <a:srgbClr val="0A1430">
                <a:alpha val="18000"/>
              </a:srgbClr>
            </a:outerShdw>
          </a:effectLst>
        </p:spPr>
        <p:txBody>
          <a:bodyPr/>
          <a:lstStyle/>
          <a:p>
            <a:endParaRPr lang="el-GR"/>
          </a:p>
        </p:txBody>
      </p:sp>
      <p:pic>
        <p:nvPicPr>
          <p:cNvPr id="13" name="Image 1" descr="preencoded.png"/>
          <p:cNvPicPr>
            <a:picLocks noChangeAspect="1"/>
          </p:cNvPicPr>
          <p:nvPr/>
        </p:nvPicPr>
        <p:blipFill>
          <a:blip r:embed="rId4"/>
          <a:stretch>
            <a:fillRect/>
          </a:stretch>
        </p:blipFill>
        <p:spPr>
          <a:xfrm>
            <a:off x="6598310" y="2300630"/>
            <a:ext cx="336499" cy="336499"/>
          </a:xfrm>
          <a:prstGeom prst="rect">
            <a:avLst/>
          </a:prstGeom>
        </p:spPr>
      </p:pic>
      <p:sp>
        <p:nvSpPr>
          <p:cNvPr id="14" name="Text 10"/>
          <p:cNvSpPr/>
          <p:nvPr/>
        </p:nvSpPr>
        <p:spPr>
          <a:xfrm>
            <a:off x="7315200" y="2212848"/>
            <a:ext cx="3840480" cy="502920"/>
          </a:xfrm>
          <a:prstGeom prst="rect">
            <a:avLst/>
          </a:prstGeom>
          <a:noFill/>
          <a:ln/>
        </p:spPr>
        <p:txBody>
          <a:bodyPr wrap="square" rtlCol="0" anchor="ctr"/>
          <a:lstStyle/>
          <a:p>
            <a:pPr marL="0" indent="0">
              <a:buNone/>
            </a:pPr>
            <a:r>
              <a:rPr lang="en-US" sz="1900" b="1" dirty="0">
                <a:solidFill>
                  <a:srgbClr val="0D2B6B"/>
                </a:solidFill>
                <a:latin typeface="Calibri" pitchFamily="34" charset="0"/>
                <a:ea typeface="Calibri" pitchFamily="34" charset="-122"/>
                <a:cs typeface="Calibri" pitchFamily="34" charset="-120"/>
              </a:rPr>
              <a:t>Lessons learned</a:t>
            </a:r>
            <a:endParaRPr lang="en-US" sz="1900" dirty="0"/>
          </a:p>
        </p:txBody>
      </p:sp>
      <p:sp>
        <p:nvSpPr>
          <p:cNvPr id="15" name="Text 11"/>
          <p:cNvSpPr/>
          <p:nvPr/>
        </p:nvSpPr>
        <p:spPr>
          <a:xfrm>
            <a:off x="6492240" y="3108960"/>
            <a:ext cx="4800600" cy="2651760"/>
          </a:xfrm>
          <a:prstGeom prst="rect">
            <a:avLst/>
          </a:prstGeom>
          <a:noFill/>
          <a:ln/>
        </p:spPr>
        <p:txBody>
          <a:bodyPr wrap="square" rtlCol="0" anchor="ctr"/>
          <a:lstStyle/>
          <a:p>
            <a:pPr marL="342900" indent="-342900">
              <a:lnSpc>
                <a:spcPct val="105000"/>
              </a:lnSpc>
              <a:spcAft>
                <a:spcPts val="1100"/>
              </a:spcAft>
              <a:buSzPct val="100000"/>
              <a:buChar char="•"/>
            </a:pPr>
            <a:r>
              <a:rPr lang="en-US" sz="1350" dirty="0">
                <a:solidFill>
                  <a:srgbClr val="35415C"/>
                </a:solidFill>
                <a:latin typeface="Calibri" pitchFamily="34" charset="0"/>
                <a:ea typeface="Calibri" pitchFamily="34" charset="-122"/>
                <a:cs typeface="Calibri" pitchFamily="34" charset="-120"/>
              </a:rPr>
              <a:t>Ένα μικρό OSS demo γίνεται αφετηρία πραγματικού συστήματος</a:t>
            </a:r>
            <a:endParaRPr lang="en-US" sz="1350" dirty="0"/>
          </a:p>
          <a:p>
            <a:pPr marL="342900" indent="-342900">
              <a:lnSpc>
                <a:spcPct val="105000"/>
              </a:lnSpc>
              <a:spcAft>
                <a:spcPts val="1100"/>
              </a:spcAft>
              <a:buSzPct val="100000"/>
              <a:buChar char="•"/>
            </a:pPr>
            <a:r>
              <a:rPr lang="en-US" sz="1350" dirty="0">
                <a:solidFill>
                  <a:srgbClr val="35415C"/>
                </a:solidFill>
                <a:latin typeface="Calibri" pitchFamily="34" charset="0"/>
                <a:ea typeface="Calibri" pitchFamily="34" charset="-122"/>
                <a:cs typeface="Calibri" pitchFamily="34" charset="-120"/>
              </a:rPr>
              <a:t>Εφαρμογή ολόκληρου του κύκλου ζωής λογισμικού</a:t>
            </a:r>
            <a:endParaRPr lang="en-US" sz="1350" dirty="0"/>
          </a:p>
          <a:p>
            <a:pPr marL="342900" indent="-342900">
              <a:lnSpc>
                <a:spcPct val="105000"/>
              </a:lnSpc>
              <a:spcAft>
                <a:spcPts val="1100"/>
              </a:spcAft>
              <a:buSzPct val="100000"/>
              <a:buChar char="•"/>
            </a:pPr>
            <a:r>
              <a:rPr lang="en-US" sz="1350" dirty="0">
                <a:solidFill>
                  <a:srgbClr val="35415C"/>
                </a:solidFill>
                <a:latin typeface="Calibri" pitchFamily="34" charset="0"/>
                <a:ea typeface="Calibri" pitchFamily="34" charset="-122"/>
                <a:cs typeface="Calibri" pitchFamily="34" charset="-120"/>
              </a:rPr>
              <a:t>Αξία της καθαρής, πολυεπίπεδης αρχιτεκτονικής</a:t>
            </a:r>
            <a:endParaRPr lang="en-US" sz="1350" dirty="0"/>
          </a:p>
          <a:p>
            <a:pPr marL="342900" indent="-342900">
              <a:lnSpc>
                <a:spcPct val="105000"/>
              </a:lnSpc>
              <a:spcAft>
                <a:spcPts val="1100"/>
              </a:spcAft>
              <a:buSzPct val="100000"/>
              <a:buChar char="•"/>
            </a:pPr>
            <a:r>
              <a:rPr lang="en-US" sz="1350" dirty="0">
                <a:solidFill>
                  <a:srgbClr val="35415C"/>
                </a:solidFill>
                <a:latin typeface="Calibri" pitchFamily="34" charset="0"/>
                <a:ea typeface="Calibri" pitchFamily="34" charset="-122"/>
                <a:cs typeface="Calibri" pitchFamily="34" charset="-120"/>
              </a:rPr>
              <a:t>Συνεργατική ανάπτυξη με Git: branches, PRs, reviews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F52"/>
        </a:solidFill>
        <a:effectLst/>
      </p:bgPr>
    </p:bg>
    <p:spTree>
      <p:nvGrpSpPr>
        <p:cNvPr id="1" name=""/>
        <p:cNvGrpSpPr/>
        <p:nvPr/>
      </p:nvGrpSpPr>
      <p:grpSpPr>
        <a:xfrm>
          <a:off x="0" y="0"/>
          <a:ext cx="0" cy="0"/>
          <a:chOff x="0" y="0"/>
          <a:chExt cx="0" cy="0"/>
        </a:xfrm>
      </p:grpSpPr>
      <p:sp>
        <p:nvSpPr>
          <p:cNvPr id="2" name="Shape 0"/>
          <p:cNvSpPr/>
          <p:nvPr/>
        </p:nvSpPr>
        <p:spPr>
          <a:xfrm>
            <a:off x="-2011680" y="-2011680"/>
            <a:ext cx="5852160" cy="5852160"/>
          </a:xfrm>
          <a:prstGeom prst="ellipse">
            <a:avLst/>
          </a:prstGeom>
          <a:solidFill>
            <a:srgbClr val="0D2B6B"/>
          </a:solidFill>
          <a:ln w="12700">
            <a:solidFill>
              <a:srgbClr val="1A3A8C">
                <a:alpha val="45000"/>
              </a:srgbClr>
            </a:solidFill>
            <a:prstDash val="solid"/>
          </a:ln>
        </p:spPr>
        <p:txBody>
          <a:bodyPr/>
          <a:lstStyle/>
          <a:p>
            <a:endParaRPr lang="el-GR"/>
          </a:p>
        </p:txBody>
      </p:sp>
      <p:sp>
        <p:nvSpPr>
          <p:cNvPr id="3" name="Shape 1"/>
          <p:cNvSpPr/>
          <p:nvPr/>
        </p:nvSpPr>
        <p:spPr>
          <a:xfrm>
            <a:off x="-914400" y="-914400"/>
            <a:ext cx="3657600" cy="3657600"/>
          </a:xfrm>
          <a:prstGeom prst="ellipse">
            <a:avLst/>
          </a:prstGeom>
          <a:solidFill>
            <a:srgbClr val="0A1F52"/>
          </a:solidFill>
          <a:ln w="12700">
            <a:solidFill>
              <a:srgbClr val="D4A017">
                <a:alpha val="65000"/>
              </a:srgbClr>
            </a:solidFill>
            <a:prstDash val="solid"/>
          </a:ln>
        </p:spPr>
        <p:txBody>
          <a:bodyPr/>
          <a:lstStyle/>
          <a:p>
            <a:endParaRPr lang="el-GR"/>
          </a:p>
        </p:txBody>
      </p:sp>
      <p:sp>
        <p:nvSpPr>
          <p:cNvPr id="4" name="Shape 2"/>
          <p:cNvSpPr/>
          <p:nvPr/>
        </p:nvSpPr>
        <p:spPr>
          <a:xfrm>
            <a:off x="5632704" y="1417320"/>
            <a:ext cx="914400" cy="914400"/>
          </a:xfrm>
          <a:prstGeom prst="ellipse">
            <a:avLst/>
          </a:prstGeom>
          <a:solidFill>
            <a:srgbClr val="D4A017"/>
          </a:solidFill>
          <a:ln/>
          <a:effectLst>
            <a:outerShdw blurRad="88900" dist="25400" dir="2700000" algn="bl" rotWithShape="0">
              <a:srgbClr val="0A1430">
                <a:alpha val="18000"/>
              </a:srgbClr>
            </a:outerShdw>
          </a:effectLst>
        </p:spPr>
        <p:txBody>
          <a:bodyPr/>
          <a:lstStyle/>
          <a:p>
            <a:endParaRPr lang="el-GR"/>
          </a:p>
        </p:txBody>
      </p:sp>
      <p:pic>
        <p:nvPicPr>
          <p:cNvPr id="5" name="Image 0" descr="preencoded.png"/>
          <p:cNvPicPr>
            <a:picLocks noChangeAspect="1"/>
          </p:cNvPicPr>
          <p:nvPr/>
        </p:nvPicPr>
        <p:blipFill>
          <a:blip r:embed="rId3"/>
          <a:stretch>
            <a:fillRect/>
          </a:stretch>
        </p:blipFill>
        <p:spPr>
          <a:xfrm>
            <a:off x="5879592" y="1664208"/>
            <a:ext cx="420624" cy="420624"/>
          </a:xfrm>
          <a:prstGeom prst="rect">
            <a:avLst/>
          </a:prstGeom>
        </p:spPr>
      </p:pic>
      <p:sp>
        <p:nvSpPr>
          <p:cNvPr id="6" name="Text 3"/>
          <p:cNvSpPr/>
          <p:nvPr/>
        </p:nvSpPr>
        <p:spPr>
          <a:xfrm>
            <a:off x="914400" y="2560320"/>
            <a:ext cx="10360152" cy="91440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Demo &amp; Ερωτήσεις</a:t>
            </a:r>
            <a:endParaRPr lang="en-US" sz="4600" dirty="0"/>
          </a:p>
        </p:txBody>
      </p:sp>
      <p:sp>
        <p:nvSpPr>
          <p:cNvPr id="7" name="Text 4"/>
          <p:cNvSpPr/>
          <p:nvPr/>
        </p:nvSpPr>
        <p:spPr>
          <a:xfrm>
            <a:off x="914400" y="3611880"/>
            <a:ext cx="10360152" cy="457200"/>
          </a:xfrm>
          <a:prstGeom prst="rect">
            <a:avLst/>
          </a:prstGeom>
          <a:noFill/>
          <a:ln/>
        </p:spPr>
        <p:txBody>
          <a:bodyPr wrap="square" rtlCol="0" anchor="ctr"/>
          <a:lstStyle/>
          <a:p>
            <a:pPr marL="0" indent="0" algn="ctr">
              <a:buNone/>
            </a:pPr>
            <a:r>
              <a:rPr lang="en-US" sz="1800" dirty="0">
                <a:solidFill>
                  <a:srgbClr val="E8B84B"/>
                </a:solidFill>
                <a:latin typeface="Calibri" pitchFamily="34" charset="0"/>
                <a:ea typeface="Calibri" pitchFamily="34" charset="-122"/>
                <a:cs typeface="Calibri" pitchFamily="34" charset="-120"/>
              </a:rPr>
              <a:t>Σας ευχαριστούμε — ομάδα ENGAGE, ΤΗΜΜΥ ΠΔΜ</a:t>
            </a:r>
            <a:endParaRPr lang="en-US" sz="1800" dirty="0"/>
          </a:p>
        </p:txBody>
      </p:sp>
      <p:sp>
        <p:nvSpPr>
          <p:cNvPr id="8" name="Shape 5"/>
          <p:cNvSpPr/>
          <p:nvPr/>
        </p:nvSpPr>
        <p:spPr>
          <a:xfrm>
            <a:off x="1033272" y="4480560"/>
            <a:ext cx="4937760" cy="868680"/>
          </a:xfrm>
          <a:prstGeom prst="roundRect">
            <a:avLst>
              <a:gd name="adj" fmla="val 10526"/>
            </a:avLst>
          </a:prstGeom>
          <a:solidFill>
            <a:srgbClr val="0D2B6B"/>
          </a:solidFill>
          <a:ln w="12700">
            <a:solidFill>
              <a:srgbClr val="1A3A8C"/>
            </a:solidFill>
            <a:prstDash val="solid"/>
          </a:ln>
        </p:spPr>
        <p:txBody>
          <a:bodyPr/>
          <a:lstStyle/>
          <a:p>
            <a:endParaRPr lang="el-GR"/>
          </a:p>
        </p:txBody>
      </p:sp>
      <p:sp>
        <p:nvSpPr>
          <p:cNvPr id="9" name="Shape 6"/>
          <p:cNvSpPr/>
          <p:nvPr/>
        </p:nvSpPr>
        <p:spPr>
          <a:xfrm>
            <a:off x="1289304" y="4645152"/>
            <a:ext cx="548640" cy="548640"/>
          </a:xfrm>
          <a:prstGeom prst="ellipse">
            <a:avLst/>
          </a:prstGeom>
          <a:solidFill>
            <a:srgbClr val="D4A017"/>
          </a:solidFill>
          <a:ln/>
          <a:effectLst>
            <a:outerShdw blurRad="88900" dist="25400" dir="2700000" algn="bl" rotWithShape="0">
              <a:srgbClr val="0A1430">
                <a:alpha val="18000"/>
              </a:srgbClr>
            </a:outerShdw>
          </a:effectLst>
        </p:spPr>
        <p:txBody>
          <a:bodyPr/>
          <a:lstStyle/>
          <a:p>
            <a:endParaRPr lang="el-GR"/>
          </a:p>
        </p:txBody>
      </p:sp>
      <p:pic>
        <p:nvPicPr>
          <p:cNvPr id="10" name="Image 1" descr="preencoded.png"/>
          <p:cNvPicPr>
            <a:picLocks noChangeAspect="1"/>
          </p:cNvPicPr>
          <p:nvPr/>
        </p:nvPicPr>
        <p:blipFill>
          <a:blip r:embed="rId4"/>
          <a:stretch>
            <a:fillRect/>
          </a:stretch>
        </p:blipFill>
        <p:spPr>
          <a:xfrm>
            <a:off x="1437437" y="4793285"/>
            <a:ext cx="252374" cy="252374"/>
          </a:xfrm>
          <a:prstGeom prst="rect">
            <a:avLst/>
          </a:prstGeom>
        </p:spPr>
      </p:pic>
      <p:sp>
        <p:nvSpPr>
          <p:cNvPr id="11" name="Text 7"/>
          <p:cNvSpPr/>
          <p:nvPr/>
        </p:nvSpPr>
        <p:spPr>
          <a:xfrm>
            <a:off x="1993392" y="4480560"/>
            <a:ext cx="3886200" cy="868680"/>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github.com/ChrisTypou162734/</a:t>
            </a:r>
            <a:endParaRPr lang="en-US" sz="1350" dirty="0"/>
          </a:p>
          <a:p>
            <a:pPr marL="0" indent="0">
              <a:buNone/>
            </a:pPr>
            <a:r>
              <a:rPr lang="en-US" sz="1350" dirty="0">
                <a:solidFill>
                  <a:srgbClr val="FFFFFF"/>
                </a:solidFill>
                <a:latin typeface="Calibri" pitchFamily="34" charset="0"/>
                <a:ea typeface="Calibri" pitchFamily="34" charset="-122"/>
                <a:cs typeface="Calibri" pitchFamily="34" charset="-120"/>
              </a:rPr>
              <a:t>Library-UoWM</a:t>
            </a:r>
            <a:endParaRPr lang="en-US" sz="1350" dirty="0"/>
          </a:p>
        </p:txBody>
      </p:sp>
      <p:sp>
        <p:nvSpPr>
          <p:cNvPr id="12" name="Shape 8"/>
          <p:cNvSpPr/>
          <p:nvPr/>
        </p:nvSpPr>
        <p:spPr>
          <a:xfrm>
            <a:off x="6217920" y="4480560"/>
            <a:ext cx="4937760" cy="868680"/>
          </a:xfrm>
          <a:prstGeom prst="roundRect">
            <a:avLst>
              <a:gd name="adj" fmla="val 10526"/>
            </a:avLst>
          </a:prstGeom>
          <a:solidFill>
            <a:srgbClr val="0D2B6B"/>
          </a:solidFill>
          <a:ln w="12700">
            <a:solidFill>
              <a:srgbClr val="1A3A8C"/>
            </a:solidFill>
            <a:prstDash val="solid"/>
          </a:ln>
        </p:spPr>
        <p:txBody>
          <a:bodyPr/>
          <a:lstStyle/>
          <a:p>
            <a:endParaRPr lang="el-GR"/>
          </a:p>
        </p:txBody>
      </p:sp>
      <p:sp>
        <p:nvSpPr>
          <p:cNvPr id="13" name="Shape 9"/>
          <p:cNvSpPr/>
          <p:nvPr/>
        </p:nvSpPr>
        <p:spPr>
          <a:xfrm>
            <a:off x="6473952" y="4645152"/>
            <a:ext cx="548640" cy="548640"/>
          </a:xfrm>
          <a:prstGeom prst="ellipse">
            <a:avLst/>
          </a:prstGeom>
          <a:solidFill>
            <a:srgbClr val="D4A017"/>
          </a:solidFill>
          <a:ln/>
          <a:effectLst>
            <a:outerShdw blurRad="88900" dist="25400" dir="2700000" algn="bl" rotWithShape="0">
              <a:srgbClr val="0A1430">
                <a:alpha val="18000"/>
              </a:srgbClr>
            </a:outerShdw>
          </a:effectLst>
        </p:spPr>
        <p:txBody>
          <a:bodyPr/>
          <a:lstStyle/>
          <a:p>
            <a:endParaRPr lang="el-GR"/>
          </a:p>
        </p:txBody>
      </p:sp>
      <p:pic>
        <p:nvPicPr>
          <p:cNvPr id="14" name="Image 2" descr="preencoded.png"/>
          <p:cNvPicPr>
            <a:picLocks noChangeAspect="1"/>
          </p:cNvPicPr>
          <p:nvPr/>
        </p:nvPicPr>
        <p:blipFill>
          <a:blip r:embed="rId5"/>
          <a:stretch>
            <a:fillRect/>
          </a:stretch>
        </p:blipFill>
        <p:spPr>
          <a:xfrm>
            <a:off x="6622085" y="4793285"/>
            <a:ext cx="252374" cy="252374"/>
          </a:xfrm>
          <a:prstGeom prst="rect">
            <a:avLst/>
          </a:prstGeom>
        </p:spPr>
      </p:pic>
      <p:sp>
        <p:nvSpPr>
          <p:cNvPr id="15" name="Text 10"/>
          <p:cNvSpPr/>
          <p:nvPr/>
        </p:nvSpPr>
        <p:spPr>
          <a:xfrm>
            <a:off x="7178040" y="4480560"/>
            <a:ext cx="3886200" cy="868680"/>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Έργο βάσης:</a:t>
            </a:r>
            <a:endParaRPr lang="en-US" sz="1350" dirty="0"/>
          </a:p>
          <a:p>
            <a:pPr marL="0" indent="0">
              <a:buNone/>
            </a:pPr>
            <a:r>
              <a:rPr lang="en-US" sz="1350" dirty="0">
                <a:solidFill>
                  <a:srgbClr val="FFFFFF"/>
                </a:solidFill>
                <a:latin typeface="Calibri" pitchFamily="34" charset="0"/>
                <a:ea typeface="Calibri" pitchFamily="34" charset="-122"/>
                <a:cs typeface="Calibri" pitchFamily="34" charset="-120"/>
              </a:rPr>
              <a:t>devrnt/book-library</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1226</Words>
  <Application>Microsoft Office PowerPoint</Application>
  <PresentationFormat>Προσαρμογή</PresentationFormat>
  <Paragraphs>192</Paragraphs>
  <Slides>13</Slides>
  <Notes>13</Notes>
  <HiddenSlides>0</HiddenSlides>
  <MMClips>0</MMClips>
  <ScaleCrop>false</ScaleCrop>
  <HeadingPairs>
    <vt:vector size="6" baseType="variant">
      <vt:variant>
        <vt:lpstr>Γραμματοσειρές που χρησιμοποιούνται</vt:lpstr>
      </vt:variant>
      <vt:variant>
        <vt:i4>3</vt:i4>
      </vt:variant>
      <vt:variant>
        <vt:lpstr>Θέμα</vt:lpstr>
      </vt:variant>
      <vt:variant>
        <vt:i4>1</vt:i4>
      </vt:variant>
      <vt:variant>
        <vt:lpstr>Τίτλοι διαφανειών</vt:lpstr>
      </vt:variant>
      <vt:variant>
        <vt:i4>13</vt:i4>
      </vt:variant>
    </vt:vector>
  </HeadingPairs>
  <TitlesOfParts>
    <vt:vector size="17" baseType="lpstr">
      <vt:lpstr>Arial</vt:lpstr>
      <vt:lpstr>Calibri</vt:lpstr>
      <vt:lpstr>Cambria</vt:lpstr>
      <vt:lpstr>Office Theme</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UoWM Library — Παρουσίαση Υλοποίησης</dc:title>
  <dc:subject>PptxGenJS Presentation</dc:subject>
  <dc:creator>ENGAGE / UoWM</dc:creator>
  <cp:lastModifiedBy>CHRISTOS TYPOU</cp:lastModifiedBy>
  <cp:revision>4</cp:revision>
  <dcterms:created xsi:type="dcterms:W3CDTF">2026-06-12T14:32:39Z</dcterms:created>
  <dcterms:modified xsi:type="dcterms:W3CDTF">2026-06-12T15:18:19Z</dcterms:modified>
</cp:coreProperties>
</file>